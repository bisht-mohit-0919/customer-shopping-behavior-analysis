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Raleway Bold"/>
      <p:regular r:id="rId201314"/>
    </p:embeddedFont>
    <p:embeddedFont>
      <p:font typeface="Raleway"/>
      <p:regular r:id="rId201315"/>
    </p:embeddedFont>
    <p:embeddedFont>
      <p:font typeface="Roboto"/>
      <p:regular r:id="rId201316"/>
    </p:embeddedFont>
    <p:embeddedFont>
      <p:font typeface="Roboto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sp>
      <p:sp>
        <p:nvSpPr>
          <p:cNvPr id="3" name="Shape 1"/>
          <p:cNvSpPr/>
          <p:nvPr/>
        </p:nvSpPr>
        <p:spPr>
          <a:xfrm>
            <a:off x="0" y="0"/>
            <a:ext cx="12191695" cy="68580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1.png"/><Relationship Id="rId4" Type="http://schemas.openxmlformats.org/officeDocument/2006/relationships/image" Target="../media/image-7-2.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1.png"/><Relationship Id="rId8" Type="http://schemas.openxmlformats.org/officeDocument/2006/relationships/image" Target="../media/image-7-2.svg"/><Relationship Id="rId9" Type="http://schemas.openxmlformats.org/officeDocument/2006/relationships/image" Target="../media/image-7-5.png"/><Relationship Id="rId10" Type="http://schemas.openxmlformats.org/officeDocument/2006/relationships/image" Target="../media/image-7-6.svg"/><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dn.gamma.app/3ndratmek4ino1x/6b1dc988bc654c04994e0a5d8ee19d03/file/Customer-Shopping-Behavior-Analysis.pdf"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388666"/>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Customer Shopping Behavior Analysis</a:t>
            </a:r>
            <a:endParaRPr lang="en-US" sz="3250" dirty="0"/>
          </a:p>
        </p:txBody>
      </p:sp>
      <p:sp>
        <p:nvSpPr>
          <p:cNvPr id="3" name="Text 1"/>
          <p:cNvSpPr/>
          <p:nvPr/>
        </p:nvSpPr>
        <p:spPr>
          <a:xfrm>
            <a:off x="661475" y="2318742"/>
            <a:ext cx="5330989" cy="545802"/>
          </a:xfrm>
          <a:prstGeom prst="rect">
            <a:avLst/>
          </a:prstGeom>
          <a:noFill/>
          <a:ln/>
        </p:spPr>
        <p:txBody>
          <a:bodyPr wrap="none" lIns="0" tIns="0" rIns="0" bIns="0" rtlCol="0" anchor="t"/>
          <a:lstStyle/>
          <a:p>
            <a:pPr algn="ctr" indent="0" marL="0">
              <a:lnSpc>
                <a:spcPct val="83000"/>
              </a:lnSpc>
              <a:buNone/>
            </a:pPr>
            <a:r>
              <a:rPr lang="en-US" sz="4250" dirty="0">
                <a:solidFill>
                  <a:srgbClr val="3C3939"/>
                </a:solidFill>
                <a:latin typeface="Raleway" pitchFamily="34" charset="0"/>
                <a:ea typeface="Raleway" pitchFamily="34" charset="-122"/>
                <a:cs typeface="Raleway" pitchFamily="34" charset="-120"/>
              </a:rPr>
              <a:t>3,900</a:t>
            </a:r>
            <a:endParaRPr lang="en-US" sz="4250" dirty="0"/>
          </a:p>
        </p:txBody>
      </p:sp>
      <p:sp>
        <p:nvSpPr>
          <p:cNvPr id="4" name="Text 2"/>
          <p:cNvSpPr/>
          <p:nvPr/>
        </p:nvSpPr>
        <p:spPr>
          <a:xfrm>
            <a:off x="661475" y="3071217"/>
            <a:ext cx="5330989" cy="258465"/>
          </a:xfrm>
          <a:prstGeom prst="rect">
            <a:avLst/>
          </a:prstGeom>
          <a:noFill/>
          <a:ln/>
        </p:spPr>
        <p:txBody>
          <a:bodyPr wrap="none" lIns="0" tIns="0" rIns="0" bIns="0" rtlCol="0" anchor="t"/>
          <a:lstStyle/>
          <a:p>
            <a:pPr algn="ctr" indent="0" marL="0">
              <a:lnSpc>
                <a:spcPct val="104000"/>
              </a:lnSpc>
              <a:buNone/>
            </a:pPr>
            <a:r>
              <a:rPr lang="en-US" sz="1600" dirty="0">
                <a:solidFill>
                  <a:srgbClr val="3C3939"/>
                </a:solidFill>
                <a:latin typeface="Raleway" pitchFamily="34" charset="0"/>
                <a:ea typeface="Raleway" pitchFamily="34" charset="-122"/>
                <a:cs typeface="Raleway" pitchFamily="34" charset="-120"/>
              </a:rPr>
              <a:t>Total Transactions</a:t>
            </a:r>
            <a:endParaRPr lang="en-US" sz="1600" dirty="0"/>
          </a:p>
        </p:txBody>
      </p:sp>
      <p:sp>
        <p:nvSpPr>
          <p:cNvPr id="5" name="Text 3"/>
          <p:cNvSpPr/>
          <p:nvPr/>
        </p:nvSpPr>
        <p:spPr>
          <a:xfrm>
            <a:off x="6199132" y="2318742"/>
            <a:ext cx="5331089" cy="545802"/>
          </a:xfrm>
          <a:prstGeom prst="rect">
            <a:avLst/>
          </a:prstGeom>
          <a:noFill/>
          <a:ln/>
        </p:spPr>
        <p:txBody>
          <a:bodyPr wrap="none" lIns="0" tIns="0" rIns="0" bIns="0" rtlCol="0" anchor="t"/>
          <a:lstStyle/>
          <a:p>
            <a:pPr algn="ctr" indent="0" marL="0">
              <a:lnSpc>
                <a:spcPct val="83000"/>
              </a:lnSpc>
              <a:buNone/>
            </a:pPr>
            <a:r>
              <a:rPr lang="en-US" sz="4250" dirty="0">
                <a:solidFill>
                  <a:srgbClr val="3C3939"/>
                </a:solidFill>
                <a:latin typeface="Raleway" pitchFamily="34" charset="0"/>
                <a:ea typeface="Raleway" pitchFamily="34" charset="-122"/>
                <a:cs typeface="Raleway" pitchFamily="34" charset="-120"/>
              </a:rPr>
              <a:t>18</a:t>
            </a:r>
            <a:endParaRPr lang="en-US" sz="4250" dirty="0"/>
          </a:p>
        </p:txBody>
      </p:sp>
      <p:sp>
        <p:nvSpPr>
          <p:cNvPr id="6" name="Text 4"/>
          <p:cNvSpPr/>
          <p:nvPr/>
        </p:nvSpPr>
        <p:spPr>
          <a:xfrm>
            <a:off x="6199132" y="3071217"/>
            <a:ext cx="5331089" cy="258465"/>
          </a:xfrm>
          <a:prstGeom prst="rect">
            <a:avLst/>
          </a:prstGeom>
          <a:noFill/>
          <a:ln/>
        </p:spPr>
        <p:txBody>
          <a:bodyPr wrap="none" lIns="0" tIns="0" rIns="0" bIns="0" rtlCol="0" anchor="t"/>
          <a:lstStyle/>
          <a:p>
            <a:pPr algn="ctr" indent="0" marL="0">
              <a:lnSpc>
                <a:spcPct val="104000"/>
              </a:lnSpc>
              <a:buNone/>
            </a:pPr>
            <a:r>
              <a:rPr lang="en-US" sz="1600" dirty="0">
                <a:solidFill>
                  <a:srgbClr val="3C3939"/>
                </a:solidFill>
                <a:latin typeface="Raleway" pitchFamily="34" charset="0"/>
                <a:ea typeface="Raleway" pitchFamily="34" charset="-122"/>
                <a:cs typeface="Raleway" pitchFamily="34" charset="-120"/>
              </a:rPr>
              <a:t>Dataset Columns</a:t>
            </a:r>
            <a:endParaRPr lang="en-US" sz="1600" dirty="0"/>
          </a:p>
        </p:txBody>
      </p:sp>
      <p:sp>
        <p:nvSpPr>
          <p:cNvPr id="7" name="Text 5"/>
          <p:cNvSpPr/>
          <p:nvPr/>
        </p:nvSpPr>
        <p:spPr>
          <a:xfrm>
            <a:off x="661475" y="3743027"/>
            <a:ext cx="5330989" cy="545802"/>
          </a:xfrm>
          <a:prstGeom prst="rect">
            <a:avLst/>
          </a:prstGeom>
          <a:noFill/>
          <a:ln/>
        </p:spPr>
        <p:txBody>
          <a:bodyPr wrap="none" lIns="0" tIns="0" rIns="0" bIns="0" rtlCol="0" anchor="t"/>
          <a:lstStyle/>
          <a:p>
            <a:pPr algn="ctr" indent="0" marL="0">
              <a:lnSpc>
                <a:spcPct val="83000"/>
              </a:lnSpc>
              <a:buNone/>
            </a:pPr>
            <a:r>
              <a:rPr lang="en-US" sz="4250" dirty="0">
                <a:solidFill>
                  <a:srgbClr val="3C3939"/>
                </a:solidFill>
                <a:latin typeface="Raleway" pitchFamily="34" charset="0"/>
                <a:ea typeface="Raleway" pitchFamily="34" charset="-122"/>
                <a:cs typeface="Raleway" pitchFamily="34" charset="-120"/>
              </a:rPr>
              <a:t>$59.76</a:t>
            </a:r>
            <a:endParaRPr lang="en-US" sz="4250" dirty="0"/>
          </a:p>
        </p:txBody>
      </p:sp>
      <p:sp>
        <p:nvSpPr>
          <p:cNvPr id="8" name="Text 6"/>
          <p:cNvSpPr/>
          <p:nvPr/>
        </p:nvSpPr>
        <p:spPr>
          <a:xfrm>
            <a:off x="661475" y="4495502"/>
            <a:ext cx="5330989" cy="258465"/>
          </a:xfrm>
          <a:prstGeom prst="rect">
            <a:avLst/>
          </a:prstGeom>
          <a:noFill/>
          <a:ln/>
        </p:spPr>
        <p:txBody>
          <a:bodyPr wrap="none" lIns="0" tIns="0" rIns="0" bIns="0" rtlCol="0" anchor="t"/>
          <a:lstStyle/>
          <a:p>
            <a:pPr algn="ctr" indent="0" marL="0">
              <a:lnSpc>
                <a:spcPct val="104000"/>
              </a:lnSpc>
              <a:buNone/>
            </a:pPr>
            <a:r>
              <a:rPr lang="en-US" sz="1600" dirty="0">
                <a:solidFill>
                  <a:srgbClr val="3C3939"/>
                </a:solidFill>
                <a:latin typeface="Raleway" pitchFamily="34" charset="0"/>
                <a:ea typeface="Raleway" pitchFamily="34" charset="-122"/>
                <a:cs typeface="Raleway" pitchFamily="34" charset="-120"/>
              </a:rPr>
              <a:t>Avg Purchase Amount</a:t>
            </a:r>
            <a:endParaRPr lang="en-US" sz="1600" dirty="0"/>
          </a:p>
        </p:txBody>
      </p:sp>
      <p:sp>
        <p:nvSpPr>
          <p:cNvPr id="9" name="Text 7"/>
          <p:cNvSpPr/>
          <p:nvPr/>
        </p:nvSpPr>
        <p:spPr>
          <a:xfrm>
            <a:off x="6199132" y="3743027"/>
            <a:ext cx="5331089" cy="545802"/>
          </a:xfrm>
          <a:prstGeom prst="rect">
            <a:avLst/>
          </a:prstGeom>
          <a:noFill/>
          <a:ln/>
        </p:spPr>
        <p:txBody>
          <a:bodyPr wrap="none" lIns="0" tIns="0" rIns="0" bIns="0" rtlCol="0" anchor="t"/>
          <a:lstStyle/>
          <a:p>
            <a:pPr algn="ctr" indent="0" marL="0">
              <a:lnSpc>
                <a:spcPct val="83000"/>
              </a:lnSpc>
              <a:buNone/>
            </a:pPr>
            <a:r>
              <a:rPr lang="en-US" sz="4250" dirty="0">
                <a:solidFill>
                  <a:srgbClr val="3C3939"/>
                </a:solidFill>
                <a:latin typeface="Raleway" pitchFamily="34" charset="0"/>
                <a:ea typeface="Raleway" pitchFamily="34" charset="-122"/>
                <a:cs typeface="Raleway" pitchFamily="34" charset="-120"/>
              </a:rPr>
              <a:t>3.75</a:t>
            </a:r>
            <a:endParaRPr lang="en-US" sz="4250" dirty="0"/>
          </a:p>
        </p:txBody>
      </p:sp>
      <p:sp>
        <p:nvSpPr>
          <p:cNvPr id="10" name="Text 8"/>
          <p:cNvSpPr/>
          <p:nvPr/>
        </p:nvSpPr>
        <p:spPr>
          <a:xfrm>
            <a:off x="6199132" y="4495502"/>
            <a:ext cx="5331089" cy="258465"/>
          </a:xfrm>
          <a:prstGeom prst="rect">
            <a:avLst/>
          </a:prstGeom>
          <a:noFill/>
          <a:ln/>
        </p:spPr>
        <p:txBody>
          <a:bodyPr wrap="none" lIns="0" tIns="0" rIns="0" bIns="0" rtlCol="0" anchor="t"/>
          <a:lstStyle/>
          <a:p>
            <a:pPr algn="ctr" indent="0" marL="0">
              <a:lnSpc>
                <a:spcPct val="104000"/>
              </a:lnSpc>
              <a:buNone/>
            </a:pPr>
            <a:r>
              <a:rPr lang="en-US" sz="1600" dirty="0">
                <a:solidFill>
                  <a:srgbClr val="3C3939"/>
                </a:solidFill>
                <a:latin typeface="Raleway" pitchFamily="34" charset="0"/>
                <a:ea typeface="Raleway" pitchFamily="34" charset="-122"/>
                <a:cs typeface="Raleway" pitchFamily="34" charset="-120"/>
              </a:rPr>
              <a:t>Avg Review Rating</a:t>
            </a:r>
            <a:endParaRPr lang="en-US" sz="1600" dirty="0"/>
          </a:p>
        </p:txBody>
      </p:sp>
      <p:sp>
        <p:nvSpPr>
          <p:cNvPr id="11" name="Text 9"/>
          <p:cNvSpPr/>
          <p:nvPr/>
        </p:nvSpPr>
        <p:spPr>
          <a:xfrm>
            <a:off x="661475" y="4940002"/>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 structured analysis of transactional retail data spanning customer demographics, product categories, subscription behavior, and spending patterns — powered by Python, PostgreSQL, and Power BI.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00360"/>
            <a:ext cx="10868745" cy="460375"/>
          </a:xfrm>
          <a:prstGeom prst="rect">
            <a:avLst/>
          </a:prstGeom>
          <a:noFill/>
          <a:ln/>
        </p:spPr>
        <p:txBody>
          <a:bodyPr wrap="none" lIns="0" tIns="0" rIns="0" bIns="0" rtlCol="0" anchor="t"/>
          <a:lstStyle/>
          <a:p>
            <a:pPr algn="l" indent="0" marL="0">
              <a:lnSpc>
                <a:spcPct val="104000"/>
              </a:lnSpc>
              <a:buNone/>
            </a:pPr>
            <a:r>
              <a:rPr lang="en-US" sz="2850" dirty="0">
                <a:solidFill>
                  <a:srgbClr val="1B1B27"/>
                </a:solidFill>
                <a:latin typeface="Raleway" pitchFamily="34" charset="0"/>
                <a:ea typeface="Raleway" pitchFamily="34" charset="-122"/>
                <a:cs typeface="Raleway" pitchFamily="34" charset="-120"/>
              </a:rPr>
              <a:t>Project Overview</a:t>
            </a:r>
            <a:endParaRPr lang="en-US" sz="2850" dirty="0"/>
          </a:p>
        </p:txBody>
      </p:sp>
      <p:sp>
        <p:nvSpPr>
          <p:cNvPr id="3" name="Shape 1"/>
          <p:cNvSpPr/>
          <p:nvPr/>
        </p:nvSpPr>
        <p:spPr>
          <a:xfrm>
            <a:off x="555413" y="1157486"/>
            <a:ext cx="5466816" cy="5200055"/>
          </a:xfrm>
          <a:prstGeom prst="roundRect">
            <a:avLst>
              <a:gd name="adj" fmla="val 2040"/>
            </a:avLst>
          </a:prstGeom>
          <a:solidFill>
            <a:srgbClr val="1B1B27">
              <a:alpha val="95000"/>
            </a:srgbClr>
          </a:solidFill>
          <a:ln/>
        </p:spPr>
      </p:sp>
      <p:sp>
        <p:nvSpPr>
          <p:cNvPr id="4" name="Text 2"/>
          <p:cNvSpPr/>
          <p:nvPr/>
        </p:nvSpPr>
        <p:spPr>
          <a:xfrm>
            <a:off x="702650" y="1288653"/>
            <a:ext cx="5172342" cy="230187"/>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Raleway" pitchFamily="34" charset="0"/>
                <a:ea typeface="Raleway" pitchFamily="34" charset="-122"/>
                <a:cs typeface="Raleway" pitchFamily="34" charset="-120"/>
              </a:rPr>
              <a:t>Objective</a:t>
            </a:r>
            <a:endParaRPr lang="en-US" sz="1400" dirty="0"/>
          </a:p>
        </p:txBody>
      </p:sp>
      <p:sp>
        <p:nvSpPr>
          <p:cNvPr id="5" name="Text 3"/>
          <p:cNvSpPr/>
          <p:nvPr/>
        </p:nvSpPr>
        <p:spPr>
          <a:xfrm>
            <a:off x="702650" y="1650008"/>
            <a:ext cx="5172342" cy="89138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FFFFFF"/>
                </a:solidFill>
                <a:latin typeface="Roboto" pitchFamily="34" charset="0"/>
                <a:ea typeface="Roboto" pitchFamily="34" charset="-122"/>
                <a:cs typeface="Roboto" pitchFamily="34" charset="-120"/>
              </a:rPr>
              <a:t>This project analyzes customer shopping behavior using transactional data from 3,900 purchases across various product categories. The goal is to uncover insights into spending patterns, customer segments, product preferences, and subscription behavior to guide strategic business decisions.</a:t>
            </a:r>
            <a:endParaRPr lang="en-US" sz="1150" dirty="0"/>
          </a:p>
        </p:txBody>
      </p:sp>
      <p:sp>
        <p:nvSpPr>
          <p:cNvPr id="6" name="Text 4"/>
          <p:cNvSpPr/>
          <p:nvPr/>
        </p:nvSpPr>
        <p:spPr>
          <a:xfrm>
            <a:off x="6281878" y="1288653"/>
            <a:ext cx="5254692" cy="230187"/>
          </a:xfrm>
          <a:prstGeom prst="rect">
            <a:avLst/>
          </a:prstGeom>
          <a:noFill/>
          <a:ln/>
        </p:spPr>
        <p:txBody>
          <a:bodyPr wrap="none" lIns="0" tIns="0" rIns="0" bIns="0" rtlCol="0" anchor="t"/>
          <a:lstStyle/>
          <a:p>
            <a:pPr algn="l" indent="0" marL="0">
              <a:lnSpc>
                <a:spcPct val="104000"/>
              </a:lnSpc>
              <a:buNone/>
            </a:pPr>
            <a:r>
              <a:rPr lang="en-US" sz="1400" dirty="0">
                <a:solidFill>
                  <a:srgbClr val="1B1B27"/>
                </a:solidFill>
                <a:latin typeface="Raleway" pitchFamily="34" charset="0"/>
                <a:ea typeface="Raleway" pitchFamily="34" charset="-122"/>
                <a:cs typeface="Raleway" pitchFamily="34" charset="-120"/>
              </a:rPr>
              <a:t>Analytical Workflow</a:t>
            </a:r>
            <a:endParaRPr lang="en-US" sz="1400" dirty="0"/>
          </a:p>
        </p:txBody>
      </p:sp>
      <p:sp>
        <p:nvSpPr>
          <p:cNvPr id="7" name="Text 5"/>
          <p:cNvSpPr/>
          <p:nvPr/>
        </p:nvSpPr>
        <p:spPr>
          <a:xfrm>
            <a:off x="6281878" y="1666379"/>
            <a:ext cx="294573" cy="184051"/>
          </a:xfrm>
          <a:prstGeom prst="rect">
            <a:avLst/>
          </a:prstGeom>
          <a:noFill/>
          <a:ln/>
        </p:spPr>
        <p:txBody>
          <a:bodyPr wrap="none" lIns="0" tIns="0" rIns="0" bIns="0" rtlCol="0" anchor="ctr"/>
          <a:lstStyle/>
          <a:p>
            <a:pPr algn="l" indent="0" marL="0">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01</a:t>
            </a:r>
            <a:endParaRPr lang="en-US" sz="1150" dirty="0"/>
          </a:p>
        </p:txBody>
      </p:sp>
      <p:sp>
        <p:nvSpPr>
          <p:cNvPr id="8" name="Shape 6"/>
          <p:cNvSpPr/>
          <p:nvPr/>
        </p:nvSpPr>
        <p:spPr>
          <a:xfrm>
            <a:off x="6281878" y="1897559"/>
            <a:ext cx="5254692" cy="19050"/>
          </a:xfrm>
          <a:prstGeom prst="rect">
            <a:avLst/>
          </a:prstGeom>
          <a:solidFill>
            <a:srgbClr val="1B1B27"/>
          </a:solidFill>
          <a:ln/>
        </p:spPr>
      </p:sp>
      <p:sp>
        <p:nvSpPr>
          <p:cNvPr id="9" name="Text 7"/>
          <p:cNvSpPr/>
          <p:nvPr/>
        </p:nvSpPr>
        <p:spPr>
          <a:xfrm>
            <a:off x="6281878" y="2009279"/>
            <a:ext cx="5254692"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Data Preparation</a:t>
            </a:r>
            <a:endParaRPr lang="en-US" sz="1400" dirty="0"/>
          </a:p>
        </p:txBody>
      </p:sp>
      <p:sp>
        <p:nvSpPr>
          <p:cNvPr id="10" name="Text 8"/>
          <p:cNvSpPr/>
          <p:nvPr/>
        </p:nvSpPr>
        <p:spPr>
          <a:xfrm>
            <a:off x="6281878" y="2370634"/>
            <a:ext cx="5254692"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Python (pandas) for cleaning, imputation, and feature engineering</a:t>
            </a:r>
            <a:endParaRPr lang="en-US" sz="1150" dirty="0"/>
          </a:p>
        </p:txBody>
      </p:sp>
      <p:sp>
        <p:nvSpPr>
          <p:cNvPr id="11" name="Text 9"/>
          <p:cNvSpPr/>
          <p:nvPr/>
        </p:nvSpPr>
        <p:spPr>
          <a:xfrm>
            <a:off x="6281878" y="2835077"/>
            <a:ext cx="294573" cy="184051"/>
          </a:xfrm>
          <a:prstGeom prst="rect">
            <a:avLst/>
          </a:prstGeom>
          <a:noFill/>
          <a:ln/>
        </p:spPr>
        <p:txBody>
          <a:bodyPr wrap="none" lIns="0" tIns="0" rIns="0" bIns="0" rtlCol="0" anchor="ctr"/>
          <a:lstStyle/>
          <a:p>
            <a:pPr algn="l" indent="0" marL="0">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02</a:t>
            </a:r>
            <a:endParaRPr lang="en-US" sz="1150" dirty="0"/>
          </a:p>
        </p:txBody>
      </p:sp>
      <p:sp>
        <p:nvSpPr>
          <p:cNvPr id="12" name="Shape 10"/>
          <p:cNvSpPr/>
          <p:nvPr/>
        </p:nvSpPr>
        <p:spPr>
          <a:xfrm>
            <a:off x="6281878" y="3066256"/>
            <a:ext cx="5254692" cy="19050"/>
          </a:xfrm>
          <a:prstGeom prst="rect">
            <a:avLst/>
          </a:prstGeom>
          <a:solidFill>
            <a:srgbClr val="1B1B27"/>
          </a:solidFill>
          <a:ln/>
        </p:spPr>
      </p:sp>
      <p:sp>
        <p:nvSpPr>
          <p:cNvPr id="13" name="Text 11"/>
          <p:cNvSpPr/>
          <p:nvPr/>
        </p:nvSpPr>
        <p:spPr>
          <a:xfrm>
            <a:off x="6281878" y="3177977"/>
            <a:ext cx="5254692"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SQL Analysis</a:t>
            </a:r>
            <a:endParaRPr lang="en-US" sz="1400" dirty="0"/>
          </a:p>
        </p:txBody>
      </p:sp>
      <p:sp>
        <p:nvSpPr>
          <p:cNvPr id="14" name="Text 12"/>
          <p:cNvSpPr/>
          <p:nvPr/>
        </p:nvSpPr>
        <p:spPr>
          <a:xfrm>
            <a:off x="6281878" y="3539331"/>
            <a:ext cx="5254692"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PostgreSQL for structured business queries across 10 analytical dimensions</a:t>
            </a:r>
            <a:endParaRPr lang="en-US" sz="1150" dirty="0"/>
          </a:p>
        </p:txBody>
      </p:sp>
      <p:sp>
        <p:nvSpPr>
          <p:cNvPr id="15" name="Text 13"/>
          <p:cNvSpPr/>
          <p:nvPr/>
        </p:nvSpPr>
        <p:spPr>
          <a:xfrm>
            <a:off x="6281878" y="4003774"/>
            <a:ext cx="294573" cy="184051"/>
          </a:xfrm>
          <a:prstGeom prst="rect">
            <a:avLst/>
          </a:prstGeom>
          <a:noFill/>
          <a:ln/>
        </p:spPr>
        <p:txBody>
          <a:bodyPr wrap="none" lIns="0" tIns="0" rIns="0" bIns="0" rtlCol="0" anchor="ctr"/>
          <a:lstStyle/>
          <a:p>
            <a:pPr algn="l" indent="0" marL="0">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03</a:t>
            </a:r>
            <a:endParaRPr lang="en-US" sz="1150" dirty="0"/>
          </a:p>
        </p:txBody>
      </p:sp>
      <p:sp>
        <p:nvSpPr>
          <p:cNvPr id="16" name="Shape 14"/>
          <p:cNvSpPr/>
          <p:nvPr/>
        </p:nvSpPr>
        <p:spPr>
          <a:xfrm>
            <a:off x="6281878" y="4234954"/>
            <a:ext cx="5254692" cy="19050"/>
          </a:xfrm>
          <a:prstGeom prst="rect">
            <a:avLst/>
          </a:prstGeom>
          <a:solidFill>
            <a:srgbClr val="1B1B27"/>
          </a:solidFill>
          <a:ln/>
        </p:spPr>
      </p:sp>
      <p:sp>
        <p:nvSpPr>
          <p:cNvPr id="17" name="Text 15"/>
          <p:cNvSpPr/>
          <p:nvPr/>
        </p:nvSpPr>
        <p:spPr>
          <a:xfrm>
            <a:off x="6281878" y="4346674"/>
            <a:ext cx="5254692"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Dashboard</a:t>
            </a:r>
            <a:endParaRPr lang="en-US" sz="1400" dirty="0"/>
          </a:p>
        </p:txBody>
      </p:sp>
      <p:sp>
        <p:nvSpPr>
          <p:cNvPr id="18" name="Text 16"/>
          <p:cNvSpPr/>
          <p:nvPr/>
        </p:nvSpPr>
        <p:spPr>
          <a:xfrm>
            <a:off x="6281878" y="4708029"/>
            <a:ext cx="5254692"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Power BI interactive dashboard with filters and KPI visualizations</a:t>
            </a:r>
            <a:endParaRPr lang="en-US" sz="1150" dirty="0"/>
          </a:p>
        </p:txBody>
      </p:sp>
      <p:sp>
        <p:nvSpPr>
          <p:cNvPr id="19" name="Text 17"/>
          <p:cNvSpPr/>
          <p:nvPr/>
        </p:nvSpPr>
        <p:spPr>
          <a:xfrm>
            <a:off x="6281878" y="5172472"/>
            <a:ext cx="294573" cy="184051"/>
          </a:xfrm>
          <a:prstGeom prst="rect">
            <a:avLst/>
          </a:prstGeom>
          <a:noFill/>
          <a:ln/>
        </p:spPr>
        <p:txBody>
          <a:bodyPr wrap="none" lIns="0" tIns="0" rIns="0" bIns="0" rtlCol="0" anchor="ctr"/>
          <a:lstStyle/>
          <a:p>
            <a:pPr algn="l" indent="0" marL="0">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04</a:t>
            </a:r>
            <a:endParaRPr lang="en-US" sz="1150" dirty="0"/>
          </a:p>
        </p:txBody>
      </p:sp>
      <p:sp>
        <p:nvSpPr>
          <p:cNvPr id="20" name="Shape 18"/>
          <p:cNvSpPr/>
          <p:nvPr/>
        </p:nvSpPr>
        <p:spPr>
          <a:xfrm>
            <a:off x="6281878" y="5403652"/>
            <a:ext cx="5254692" cy="19050"/>
          </a:xfrm>
          <a:prstGeom prst="rect">
            <a:avLst/>
          </a:prstGeom>
          <a:solidFill>
            <a:srgbClr val="1B1B27"/>
          </a:solidFill>
          <a:ln/>
        </p:spPr>
      </p:sp>
      <p:sp>
        <p:nvSpPr>
          <p:cNvPr id="21" name="Text 19"/>
          <p:cNvSpPr/>
          <p:nvPr/>
        </p:nvSpPr>
        <p:spPr>
          <a:xfrm>
            <a:off x="6281878" y="5515372"/>
            <a:ext cx="5254692"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Recommendations</a:t>
            </a:r>
            <a:endParaRPr lang="en-US" sz="1400" dirty="0"/>
          </a:p>
        </p:txBody>
      </p:sp>
      <p:sp>
        <p:nvSpPr>
          <p:cNvPr id="22" name="Text 20"/>
          <p:cNvSpPr/>
          <p:nvPr/>
        </p:nvSpPr>
        <p:spPr>
          <a:xfrm>
            <a:off x="6281878" y="5876727"/>
            <a:ext cx="5254692"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Actionable business strategies derived from data findings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6547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Dataset Summary</a:t>
            </a:r>
            <a:endParaRPr lang="en-US" sz="3250" dirty="0"/>
          </a:p>
        </p:txBody>
      </p:sp>
      <p:sp>
        <p:nvSpPr>
          <p:cNvPr id="3" name="Text 1"/>
          <p:cNvSpPr/>
          <p:nvPr/>
        </p:nvSpPr>
        <p:spPr>
          <a:xfrm>
            <a:off x="661475" y="1695549"/>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Dataset Dimensions</a:t>
            </a:r>
            <a:endParaRPr lang="en-US" sz="1600" dirty="0"/>
          </a:p>
        </p:txBody>
      </p:sp>
      <p:sp>
        <p:nvSpPr>
          <p:cNvPr id="4" name="Shape 2"/>
          <p:cNvSpPr/>
          <p:nvPr/>
        </p:nvSpPr>
        <p:spPr>
          <a:xfrm>
            <a:off x="661475" y="2140049"/>
            <a:ext cx="2533686" cy="1031677"/>
          </a:xfrm>
          <a:prstGeom prst="roundRect">
            <a:avLst>
              <a:gd name="adj" fmla="val 6733"/>
            </a:avLst>
          </a:prstGeom>
          <a:solidFill>
            <a:srgbClr val="E1E1EA"/>
          </a:solidFill>
          <a:ln w="6350">
            <a:solidFill>
              <a:srgbClr val="C7C7D0"/>
            </a:solidFill>
            <a:prstDash val="solid"/>
          </a:ln>
        </p:spPr>
      </p:sp>
      <p:sp>
        <p:nvSpPr>
          <p:cNvPr id="5" name="Text 3"/>
          <p:cNvSpPr/>
          <p:nvPr/>
        </p:nvSpPr>
        <p:spPr>
          <a:xfrm>
            <a:off x="833119" y="2311698"/>
            <a:ext cx="2190398"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3,900 Rows</a:t>
            </a:r>
            <a:endParaRPr lang="en-US" sz="1600" dirty="0"/>
          </a:p>
        </p:txBody>
      </p:sp>
      <p:sp>
        <p:nvSpPr>
          <p:cNvPr id="6" name="Text 4"/>
          <p:cNvSpPr/>
          <p:nvPr/>
        </p:nvSpPr>
        <p:spPr>
          <a:xfrm>
            <a:off x="833119" y="2735461"/>
            <a:ext cx="2190398"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Total transaction records</a:t>
            </a:r>
            <a:endParaRPr lang="en-US" sz="1300" dirty="0"/>
          </a:p>
        </p:txBody>
      </p:sp>
      <p:sp>
        <p:nvSpPr>
          <p:cNvPr id="7" name="Shape 5"/>
          <p:cNvSpPr/>
          <p:nvPr/>
        </p:nvSpPr>
        <p:spPr>
          <a:xfrm>
            <a:off x="3360455" y="2140049"/>
            <a:ext cx="2533686" cy="1031677"/>
          </a:xfrm>
          <a:prstGeom prst="roundRect">
            <a:avLst>
              <a:gd name="adj" fmla="val 6733"/>
            </a:avLst>
          </a:prstGeom>
          <a:solidFill>
            <a:srgbClr val="E1E1EA"/>
          </a:solidFill>
          <a:ln w="6350">
            <a:solidFill>
              <a:srgbClr val="C7C7D0"/>
            </a:solidFill>
            <a:prstDash val="solid"/>
          </a:ln>
        </p:spPr>
      </p:sp>
      <p:sp>
        <p:nvSpPr>
          <p:cNvPr id="8" name="Text 6"/>
          <p:cNvSpPr/>
          <p:nvPr/>
        </p:nvSpPr>
        <p:spPr>
          <a:xfrm>
            <a:off x="3532099" y="2311698"/>
            <a:ext cx="2190398"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18 Columns</a:t>
            </a:r>
            <a:endParaRPr lang="en-US" sz="1600" dirty="0"/>
          </a:p>
        </p:txBody>
      </p:sp>
      <p:sp>
        <p:nvSpPr>
          <p:cNvPr id="9" name="Text 7"/>
          <p:cNvSpPr/>
          <p:nvPr/>
        </p:nvSpPr>
        <p:spPr>
          <a:xfrm>
            <a:off x="3532099" y="2735461"/>
            <a:ext cx="2190398"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Feature variables per record</a:t>
            </a:r>
            <a:endParaRPr lang="en-US" sz="1300" dirty="0"/>
          </a:p>
        </p:txBody>
      </p:sp>
      <p:sp>
        <p:nvSpPr>
          <p:cNvPr id="10" name="Shape 8"/>
          <p:cNvSpPr/>
          <p:nvPr/>
        </p:nvSpPr>
        <p:spPr>
          <a:xfrm>
            <a:off x="661475" y="3337024"/>
            <a:ext cx="5232666" cy="1031677"/>
          </a:xfrm>
          <a:prstGeom prst="roundRect">
            <a:avLst>
              <a:gd name="adj" fmla="val 6733"/>
            </a:avLst>
          </a:prstGeom>
          <a:solidFill>
            <a:srgbClr val="E1E1EA"/>
          </a:solidFill>
          <a:ln w="6350">
            <a:solidFill>
              <a:srgbClr val="C7C7D0"/>
            </a:solidFill>
            <a:prstDash val="solid"/>
          </a:ln>
        </p:spPr>
      </p:sp>
      <p:sp>
        <p:nvSpPr>
          <p:cNvPr id="11" name="Text 9"/>
          <p:cNvSpPr/>
          <p:nvPr/>
        </p:nvSpPr>
        <p:spPr>
          <a:xfrm>
            <a:off x="833119" y="3508673"/>
            <a:ext cx="4889378"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37 Missing</a:t>
            </a:r>
            <a:endParaRPr lang="en-US" sz="1600" dirty="0"/>
          </a:p>
        </p:txBody>
      </p:sp>
      <p:sp>
        <p:nvSpPr>
          <p:cNvPr id="12" name="Text 10"/>
          <p:cNvSpPr/>
          <p:nvPr/>
        </p:nvSpPr>
        <p:spPr>
          <a:xfrm>
            <a:off x="833119" y="3932436"/>
            <a:ext cx="4889378"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Null values in Review Rating</a:t>
            </a:r>
            <a:endParaRPr lang="en-US" sz="1300" dirty="0"/>
          </a:p>
        </p:txBody>
      </p:sp>
      <p:sp>
        <p:nvSpPr>
          <p:cNvPr id="13" name="Text 11"/>
          <p:cNvSpPr/>
          <p:nvPr/>
        </p:nvSpPr>
        <p:spPr>
          <a:xfrm>
            <a:off x="6303904" y="1695549"/>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Key Feature Groups</a:t>
            </a:r>
            <a:endParaRPr lang="en-US" sz="1600" dirty="0"/>
          </a:p>
        </p:txBody>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03904" y="2140049"/>
            <a:ext cx="5232666" cy="1057077"/>
          </a:xfrm>
          <a:prstGeom prst="rect">
            <a:avLst/>
          </a:prstGeom>
        </p:spPr>
      </p:pic>
      <p:sp>
        <p:nvSpPr>
          <p:cNvPr id="15" name="Text 12"/>
          <p:cNvSpPr/>
          <p:nvPr/>
        </p:nvSpPr>
        <p:spPr>
          <a:xfrm>
            <a:off x="6564446" y="2324398"/>
            <a:ext cx="4787780"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Customer Demographics</a:t>
            </a:r>
            <a:endParaRPr lang="en-US" sz="1600" dirty="0"/>
          </a:p>
        </p:txBody>
      </p:sp>
      <p:sp>
        <p:nvSpPr>
          <p:cNvPr id="16" name="Text 13"/>
          <p:cNvSpPr/>
          <p:nvPr/>
        </p:nvSpPr>
        <p:spPr>
          <a:xfrm>
            <a:off x="6564446" y="2748161"/>
            <a:ext cx="4787780"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Age, Gender, Location, Subscription Status</a:t>
            </a:r>
            <a:endParaRPr lang="en-US" sz="130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3904" y="3362424"/>
            <a:ext cx="5232666" cy="1057077"/>
          </a:xfrm>
          <a:prstGeom prst="rect">
            <a:avLst/>
          </a:prstGeom>
        </p:spPr>
      </p:pic>
      <p:sp>
        <p:nvSpPr>
          <p:cNvPr id="18" name="Text 14"/>
          <p:cNvSpPr/>
          <p:nvPr/>
        </p:nvSpPr>
        <p:spPr>
          <a:xfrm>
            <a:off x="6564446" y="3546773"/>
            <a:ext cx="4787780"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Purchase Details</a:t>
            </a:r>
            <a:endParaRPr lang="en-US" sz="1600" dirty="0"/>
          </a:p>
        </p:txBody>
      </p:sp>
      <p:sp>
        <p:nvSpPr>
          <p:cNvPr id="19" name="Text 15"/>
          <p:cNvSpPr/>
          <p:nvPr/>
        </p:nvSpPr>
        <p:spPr>
          <a:xfrm>
            <a:off x="6564446" y="3970536"/>
            <a:ext cx="4787780"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Item Purchased, Category, Purchase Amount, Season, Size, Color</a:t>
            </a:r>
            <a:endParaRPr lang="en-US" sz="1300" dirty="0"/>
          </a:p>
        </p:txBody>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03904" y="4584799"/>
            <a:ext cx="5232666" cy="1321693"/>
          </a:xfrm>
          <a:prstGeom prst="rect">
            <a:avLst/>
          </a:prstGeom>
        </p:spPr>
      </p:pic>
      <p:sp>
        <p:nvSpPr>
          <p:cNvPr id="21" name="Text 16"/>
          <p:cNvSpPr/>
          <p:nvPr/>
        </p:nvSpPr>
        <p:spPr>
          <a:xfrm>
            <a:off x="6564446" y="4769148"/>
            <a:ext cx="4787780"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Shopping Behavior</a:t>
            </a:r>
            <a:endParaRPr lang="en-US" sz="1600" dirty="0"/>
          </a:p>
        </p:txBody>
      </p:sp>
      <p:sp>
        <p:nvSpPr>
          <p:cNvPr id="22" name="Text 17"/>
          <p:cNvSpPr/>
          <p:nvPr/>
        </p:nvSpPr>
        <p:spPr>
          <a:xfrm>
            <a:off x="6564446" y="5192911"/>
            <a:ext cx="478778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Discount Applied, Promo Code Used, Previous Purchases, Frequency of Purchases, Review Rating, Shipping Type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3953"/>
            <a:ext cx="10868745" cy="484485"/>
          </a:xfrm>
          <a:prstGeom prst="rect">
            <a:avLst/>
          </a:prstGeom>
          <a:noFill/>
          <a:ln/>
        </p:spPr>
        <p:txBody>
          <a:bodyPr wrap="none" lIns="0" tIns="0" rIns="0" bIns="0" rtlCol="0" anchor="t"/>
          <a:lstStyle/>
          <a:p>
            <a:pPr algn="l" indent="0" marL="0">
              <a:lnSpc>
                <a:spcPct val="104000"/>
              </a:lnSpc>
              <a:buNone/>
            </a:pPr>
            <a:r>
              <a:rPr lang="en-US" sz="3050" dirty="0">
                <a:solidFill>
                  <a:srgbClr val="1B1B27"/>
                </a:solidFill>
                <a:latin typeface="Raleway" pitchFamily="34" charset="0"/>
                <a:ea typeface="Raleway" pitchFamily="34" charset="-122"/>
                <a:cs typeface="Raleway" pitchFamily="34" charset="-120"/>
              </a:rPr>
              <a:t>Exploratory Data Analysis using Python</a:t>
            </a:r>
            <a:endParaRPr lang="en-US" sz="3050" dirty="0"/>
          </a:p>
        </p:txBody>
      </p:sp>
      <p:sp>
        <p:nvSpPr>
          <p:cNvPr id="3" name="Text 1"/>
          <p:cNvSpPr/>
          <p:nvPr/>
        </p:nvSpPr>
        <p:spPr>
          <a:xfrm>
            <a:off x="661475" y="1289149"/>
            <a:ext cx="11478330" cy="240308"/>
          </a:xfrm>
          <a:prstGeom prst="rect">
            <a:avLst/>
          </a:prstGeom>
          <a:noFill/>
          <a:ln/>
        </p:spPr>
        <p:txBody>
          <a:bodyPr wrap="none" lIns="0" tIns="0" rIns="0" bIns="0" rtlCol="0" anchor="t"/>
          <a:lstStyle/>
          <a:p>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We began with data preparation and cleaning in Python:</a:t>
            </a:r>
            <a:endParaRPr lang="en-US" sz="1200" dirty="0"/>
          </a:p>
        </p:txBody>
      </p:sp>
      <p:sp>
        <p:nvSpPr>
          <p:cNvPr id="4" name="Shape 2"/>
          <p:cNvSpPr/>
          <p:nvPr/>
        </p:nvSpPr>
        <p:spPr>
          <a:xfrm>
            <a:off x="661475" y="1856482"/>
            <a:ext cx="348844" cy="348853"/>
          </a:xfrm>
          <a:prstGeom prst="roundRect">
            <a:avLst>
              <a:gd name="adj" fmla="val 18668"/>
            </a:avLst>
          </a:prstGeom>
          <a:solidFill>
            <a:srgbClr val="E1E1EA"/>
          </a:solidFill>
          <a:ln w="6350">
            <a:solidFill>
              <a:srgbClr val="C7C7D0"/>
            </a:solidFill>
            <a:prstDash val="solid"/>
          </a:ln>
        </p:spPr>
      </p:sp>
      <p:sp>
        <p:nvSpPr>
          <p:cNvPr id="5" name="Text 3"/>
          <p:cNvSpPr/>
          <p:nvPr/>
        </p:nvSpPr>
        <p:spPr>
          <a:xfrm>
            <a:off x="719616" y="1885553"/>
            <a:ext cx="232563" cy="290711"/>
          </a:xfrm>
          <a:prstGeom prst="rect">
            <a:avLst/>
          </a:prstGeom>
          <a:noFill/>
          <a:ln/>
        </p:spPr>
        <p:txBody>
          <a:bodyPr wrap="none" lIns="0" tIns="0" rIns="0" bIns="0" rtlCol="0" anchor="ctr"/>
          <a:lstStyle/>
          <a:p>
            <a:pPr algn="ctr" indent="0" marL="0">
              <a:lnSpc>
                <a:spcPct val="100000"/>
              </a:lnSpc>
              <a:buNone/>
            </a:pPr>
            <a:r>
              <a:rPr lang="en-US" sz="1800" dirty="0">
                <a:solidFill>
                  <a:srgbClr val="3C3939"/>
                </a:solidFill>
                <a:latin typeface="Raleway" pitchFamily="34" charset="0"/>
                <a:ea typeface="Raleway" pitchFamily="34" charset="-122"/>
                <a:cs typeface="Raleway" pitchFamily="34" charset="-120"/>
              </a:rPr>
              <a:t>1</a:t>
            </a:r>
            <a:endParaRPr lang="en-US" sz="1800" dirty="0"/>
          </a:p>
        </p:txBody>
      </p:sp>
      <p:sp>
        <p:nvSpPr>
          <p:cNvPr id="6" name="Text 4"/>
          <p:cNvSpPr/>
          <p:nvPr/>
        </p:nvSpPr>
        <p:spPr>
          <a:xfrm>
            <a:off x="1155671" y="1909763"/>
            <a:ext cx="4751070" cy="242193"/>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Data Loading</a:t>
            </a:r>
            <a:endParaRPr lang="en-US" sz="1500" dirty="0"/>
          </a:p>
        </p:txBody>
      </p:sp>
      <p:sp>
        <p:nvSpPr>
          <p:cNvPr id="7" name="Text 5"/>
          <p:cNvSpPr/>
          <p:nvPr/>
        </p:nvSpPr>
        <p:spPr>
          <a:xfrm>
            <a:off x="1155671" y="2297311"/>
            <a:ext cx="4751070" cy="240308"/>
          </a:xfrm>
          <a:prstGeom prst="rect">
            <a:avLst/>
          </a:prstGeom>
          <a:noFill/>
          <a:ln/>
        </p:spPr>
        <p:txBody>
          <a:bodyPr wrap="none" lIns="0" tIns="0" rIns="0" bIns="0" rtlCol="0" anchor="t"/>
          <a:lstStyle/>
          <a:p>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Imported the dataset using pandas.</a:t>
            </a:r>
            <a:endParaRPr lang="en-US" sz="1200" dirty="0"/>
          </a:p>
        </p:txBody>
      </p:sp>
      <p:sp>
        <p:nvSpPr>
          <p:cNvPr id="8" name="Shape 6"/>
          <p:cNvSpPr/>
          <p:nvPr/>
        </p:nvSpPr>
        <p:spPr>
          <a:xfrm>
            <a:off x="661475" y="2828330"/>
            <a:ext cx="348844" cy="348853"/>
          </a:xfrm>
          <a:prstGeom prst="roundRect">
            <a:avLst>
              <a:gd name="adj" fmla="val 18668"/>
            </a:avLst>
          </a:prstGeom>
          <a:solidFill>
            <a:srgbClr val="E1E1EA"/>
          </a:solidFill>
          <a:ln w="6350">
            <a:solidFill>
              <a:srgbClr val="C7C7D0"/>
            </a:solidFill>
            <a:prstDash val="solid"/>
          </a:ln>
        </p:spPr>
      </p:sp>
      <p:sp>
        <p:nvSpPr>
          <p:cNvPr id="9" name="Text 7"/>
          <p:cNvSpPr/>
          <p:nvPr/>
        </p:nvSpPr>
        <p:spPr>
          <a:xfrm>
            <a:off x="719616" y="2857401"/>
            <a:ext cx="232563" cy="290711"/>
          </a:xfrm>
          <a:prstGeom prst="rect">
            <a:avLst/>
          </a:prstGeom>
          <a:noFill/>
          <a:ln/>
        </p:spPr>
        <p:txBody>
          <a:bodyPr wrap="none" lIns="0" tIns="0" rIns="0" bIns="0" rtlCol="0" anchor="ctr"/>
          <a:lstStyle/>
          <a:p>
            <a:pPr algn="ctr" indent="0" marL="0">
              <a:lnSpc>
                <a:spcPct val="100000"/>
              </a:lnSpc>
              <a:buNone/>
            </a:pPr>
            <a:r>
              <a:rPr lang="en-US" sz="1800" dirty="0">
                <a:solidFill>
                  <a:srgbClr val="3C3939"/>
                </a:solidFill>
                <a:latin typeface="Raleway" pitchFamily="34" charset="0"/>
                <a:ea typeface="Raleway" pitchFamily="34" charset="-122"/>
                <a:cs typeface="Raleway" pitchFamily="34" charset="-120"/>
              </a:rPr>
              <a:t>2</a:t>
            </a:r>
            <a:endParaRPr lang="en-US" sz="1800" dirty="0"/>
          </a:p>
        </p:txBody>
      </p:sp>
      <p:sp>
        <p:nvSpPr>
          <p:cNvPr id="10" name="Text 8"/>
          <p:cNvSpPr/>
          <p:nvPr/>
        </p:nvSpPr>
        <p:spPr>
          <a:xfrm>
            <a:off x="1155671" y="2881610"/>
            <a:ext cx="4751070" cy="242193"/>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Initial Exploration</a:t>
            </a:r>
            <a:endParaRPr lang="en-US" sz="1500" dirty="0"/>
          </a:p>
        </p:txBody>
      </p:sp>
      <p:sp>
        <p:nvSpPr>
          <p:cNvPr id="11" name="Text 9"/>
          <p:cNvSpPr/>
          <p:nvPr/>
        </p:nvSpPr>
        <p:spPr>
          <a:xfrm>
            <a:off x="1155671" y="3269159"/>
            <a:ext cx="4751070" cy="48696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Used </a:t>
            </a:r>
            <a:pPr algn="l" indent="0" marL="0">
              <a:lnSpc>
                <a:spcPct val="1290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df.info()</a:t>
            </a:r>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 to check structure and </a:t>
            </a:r>
            <a:pPr algn="l" indent="0" marL="0">
              <a:lnSpc>
                <a:spcPct val="1290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.describe()</a:t>
            </a:r>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 for summary statistics.</a:t>
            </a:r>
            <a:endParaRPr lang="en-US" sz="1200" dirty="0"/>
          </a:p>
        </p:txBody>
      </p:sp>
      <p:sp>
        <p:nvSpPr>
          <p:cNvPr id="12" name="Shape 10"/>
          <p:cNvSpPr/>
          <p:nvPr/>
        </p:nvSpPr>
        <p:spPr>
          <a:xfrm>
            <a:off x="661475" y="4046835"/>
            <a:ext cx="348844" cy="348853"/>
          </a:xfrm>
          <a:prstGeom prst="roundRect">
            <a:avLst>
              <a:gd name="adj" fmla="val 18668"/>
            </a:avLst>
          </a:prstGeom>
          <a:solidFill>
            <a:srgbClr val="E1E1EA"/>
          </a:solidFill>
          <a:ln w="6350">
            <a:solidFill>
              <a:srgbClr val="C7C7D0"/>
            </a:solidFill>
            <a:prstDash val="solid"/>
          </a:ln>
        </p:spPr>
      </p:sp>
      <p:sp>
        <p:nvSpPr>
          <p:cNvPr id="13" name="Text 11"/>
          <p:cNvSpPr/>
          <p:nvPr/>
        </p:nvSpPr>
        <p:spPr>
          <a:xfrm>
            <a:off x="719616" y="4075906"/>
            <a:ext cx="232563" cy="290711"/>
          </a:xfrm>
          <a:prstGeom prst="rect">
            <a:avLst/>
          </a:prstGeom>
          <a:noFill/>
          <a:ln/>
        </p:spPr>
        <p:txBody>
          <a:bodyPr wrap="none" lIns="0" tIns="0" rIns="0" bIns="0" rtlCol="0" anchor="ctr"/>
          <a:lstStyle/>
          <a:p>
            <a:pPr algn="ctr" indent="0" marL="0">
              <a:lnSpc>
                <a:spcPct val="100000"/>
              </a:lnSpc>
              <a:buNone/>
            </a:pPr>
            <a:r>
              <a:rPr lang="en-US" sz="1800" dirty="0">
                <a:solidFill>
                  <a:srgbClr val="3C3939"/>
                </a:solidFill>
                <a:latin typeface="Raleway" pitchFamily="34" charset="0"/>
                <a:ea typeface="Raleway" pitchFamily="34" charset="-122"/>
                <a:cs typeface="Raleway" pitchFamily="34" charset="-120"/>
              </a:rPr>
              <a:t>3</a:t>
            </a:r>
            <a:endParaRPr lang="en-US" sz="1800" dirty="0"/>
          </a:p>
        </p:txBody>
      </p:sp>
      <p:sp>
        <p:nvSpPr>
          <p:cNvPr id="14" name="Text 12"/>
          <p:cNvSpPr/>
          <p:nvPr/>
        </p:nvSpPr>
        <p:spPr>
          <a:xfrm>
            <a:off x="1155671" y="4100116"/>
            <a:ext cx="4751070" cy="242193"/>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Missing Data Handling</a:t>
            </a:r>
            <a:endParaRPr lang="en-US" sz="1500" dirty="0"/>
          </a:p>
        </p:txBody>
      </p:sp>
      <p:sp>
        <p:nvSpPr>
          <p:cNvPr id="15" name="Text 13"/>
          <p:cNvSpPr/>
          <p:nvPr/>
        </p:nvSpPr>
        <p:spPr>
          <a:xfrm>
            <a:off x="1155671" y="4487664"/>
            <a:ext cx="4751070" cy="48061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Checked for null values and imputed missing values in the Review Rating column using the median rating of each product category.</a:t>
            </a:r>
            <a:endParaRPr lang="en-US" sz="1200" dirty="0"/>
          </a:p>
        </p:txBody>
      </p:sp>
      <p:sp>
        <p:nvSpPr>
          <p:cNvPr id="16" name="Shape 14"/>
          <p:cNvSpPr/>
          <p:nvPr/>
        </p:nvSpPr>
        <p:spPr>
          <a:xfrm>
            <a:off x="661475" y="5258991"/>
            <a:ext cx="348844" cy="348853"/>
          </a:xfrm>
          <a:prstGeom prst="roundRect">
            <a:avLst>
              <a:gd name="adj" fmla="val 18668"/>
            </a:avLst>
          </a:prstGeom>
          <a:solidFill>
            <a:srgbClr val="E1E1EA"/>
          </a:solidFill>
          <a:ln w="6350">
            <a:solidFill>
              <a:srgbClr val="C7C7D0"/>
            </a:solidFill>
            <a:prstDash val="solid"/>
          </a:ln>
        </p:spPr>
      </p:sp>
      <p:sp>
        <p:nvSpPr>
          <p:cNvPr id="17" name="Text 15"/>
          <p:cNvSpPr/>
          <p:nvPr/>
        </p:nvSpPr>
        <p:spPr>
          <a:xfrm>
            <a:off x="719616" y="5288062"/>
            <a:ext cx="232563" cy="290711"/>
          </a:xfrm>
          <a:prstGeom prst="rect">
            <a:avLst/>
          </a:prstGeom>
          <a:noFill/>
          <a:ln/>
        </p:spPr>
        <p:txBody>
          <a:bodyPr wrap="none" lIns="0" tIns="0" rIns="0" bIns="0" rtlCol="0" anchor="ctr"/>
          <a:lstStyle/>
          <a:p>
            <a:pPr algn="ctr" indent="0" marL="0">
              <a:lnSpc>
                <a:spcPct val="100000"/>
              </a:lnSpc>
              <a:buNone/>
            </a:pPr>
            <a:r>
              <a:rPr lang="en-US" sz="1800" dirty="0">
                <a:solidFill>
                  <a:srgbClr val="3C3939"/>
                </a:solidFill>
                <a:latin typeface="Raleway" pitchFamily="34" charset="0"/>
                <a:ea typeface="Raleway" pitchFamily="34" charset="-122"/>
                <a:cs typeface="Raleway" pitchFamily="34" charset="-120"/>
              </a:rPr>
              <a:t>4</a:t>
            </a:r>
            <a:endParaRPr lang="en-US" sz="1800" dirty="0"/>
          </a:p>
        </p:txBody>
      </p:sp>
      <p:sp>
        <p:nvSpPr>
          <p:cNvPr id="18" name="Text 16"/>
          <p:cNvSpPr/>
          <p:nvPr/>
        </p:nvSpPr>
        <p:spPr>
          <a:xfrm>
            <a:off x="1155671" y="5312271"/>
            <a:ext cx="4751070" cy="242193"/>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Column Standardization</a:t>
            </a:r>
            <a:endParaRPr lang="en-US" sz="1500" dirty="0"/>
          </a:p>
        </p:txBody>
      </p:sp>
      <p:sp>
        <p:nvSpPr>
          <p:cNvPr id="19" name="Text 17"/>
          <p:cNvSpPr/>
          <p:nvPr/>
        </p:nvSpPr>
        <p:spPr>
          <a:xfrm>
            <a:off x="1155671" y="5699820"/>
            <a:ext cx="4751070" cy="48061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Renamed columns to snake case for better readability and documentation.</a:t>
            </a:r>
            <a:endParaRPr lang="en-US" sz="1200" dirty="0"/>
          </a:p>
        </p:txBody>
      </p:sp>
      <p:sp>
        <p:nvSpPr>
          <p:cNvPr id="20" name="Shape 18"/>
          <p:cNvSpPr/>
          <p:nvPr/>
        </p:nvSpPr>
        <p:spPr>
          <a:xfrm>
            <a:off x="6291304" y="1856482"/>
            <a:ext cx="348844" cy="348853"/>
          </a:xfrm>
          <a:prstGeom prst="roundRect">
            <a:avLst>
              <a:gd name="adj" fmla="val 18668"/>
            </a:avLst>
          </a:prstGeom>
          <a:solidFill>
            <a:srgbClr val="E1E1EA"/>
          </a:solidFill>
          <a:ln w="6350">
            <a:solidFill>
              <a:srgbClr val="C7C7D0"/>
            </a:solidFill>
            <a:prstDash val="solid"/>
          </a:ln>
        </p:spPr>
      </p:sp>
      <p:sp>
        <p:nvSpPr>
          <p:cNvPr id="21" name="Text 19"/>
          <p:cNvSpPr/>
          <p:nvPr/>
        </p:nvSpPr>
        <p:spPr>
          <a:xfrm>
            <a:off x="6349444" y="1885553"/>
            <a:ext cx="232563" cy="290711"/>
          </a:xfrm>
          <a:prstGeom prst="rect">
            <a:avLst/>
          </a:prstGeom>
          <a:noFill/>
          <a:ln/>
        </p:spPr>
        <p:txBody>
          <a:bodyPr wrap="none" lIns="0" tIns="0" rIns="0" bIns="0" rtlCol="0" anchor="ctr"/>
          <a:lstStyle/>
          <a:p>
            <a:pPr algn="ctr" indent="0" marL="0">
              <a:lnSpc>
                <a:spcPct val="100000"/>
              </a:lnSpc>
              <a:buNone/>
            </a:pPr>
            <a:r>
              <a:rPr lang="en-US" sz="1800" dirty="0">
                <a:solidFill>
                  <a:srgbClr val="3C3939"/>
                </a:solidFill>
                <a:latin typeface="Raleway" pitchFamily="34" charset="0"/>
                <a:ea typeface="Raleway" pitchFamily="34" charset="-122"/>
                <a:cs typeface="Raleway" pitchFamily="34" charset="-120"/>
              </a:rPr>
              <a:t>1</a:t>
            </a:r>
            <a:endParaRPr lang="en-US" sz="1800" dirty="0"/>
          </a:p>
        </p:txBody>
      </p:sp>
      <p:sp>
        <p:nvSpPr>
          <p:cNvPr id="22" name="Text 20"/>
          <p:cNvSpPr/>
          <p:nvPr/>
        </p:nvSpPr>
        <p:spPr>
          <a:xfrm>
            <a:off x="6785500" y="1909763"/>
            <a:ext cx="4751070" cy="242193"/>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Feature Engineering</a:t>
            </a:r>
            <a:endParaRPr lang="en-US" sz="1500" dirty="0"/>
          </a:p>
        </p:txBody>
      </p:sp>
      <p:sp>
        <p:nvSpPr>
          <p:cNvPr id="23" name="Text 21"/>
          <p:cNvSpPr/>
          <p:nvPr/>
        </p:nvSpPr>
        <p:spPr>
          <a:xfrm>
            <a:off x="6785500" y="2297311"/>
            <a:ext cx="4751070" cy="49331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Created </a:t>
            </a:r>
            <a:pPr algn="l" indent="0" marL="0">
              <a:lnSpc>
                <a:spcPct val="1290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age_group</a:t>
            </a:r>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 column by binning customer ages. Created </a:t>
            </a:r>
            <a:pPr algn="l" indent="0" marL="0">
              <a:lnSpc>
                <a:spcPct val="1290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purchase_frequency_days</a:t>
            </a:r>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 column from purchase data.</a:t>
            </a:r>
            <a:endParaRPr lang="en-US" sz="1200" dirty="0"/>
          </a:p>
        </p:txBody>
      </p:sp>
      <p:sp>
        <p:nvSpPr>
          <p:cNvPr id="24" name="Shape 22"/>
          <p:cNvSpPr/>
          <p:nvPr/>
        </p:nvSpPr>
        <p:spPr>
          <a:xfrm>
            <a:off x="6291304" y="3081338"/>
            <a:ext cx="348844" cy="348853"/>
          </a:xfrm>
          <a:prstGeom prst="roundRect">
            <a:avLst>
              <a:gd name="adj" fmla="val 18668"/>
            </a:avLst>
          </a:prstGeom>
          <a:solidFill>
            <a:srgbClr val="E1E1EA"/>
          </a:solidFill>
          <a:ln w="6350">
            <a:solidFill>
              <a:srgbClr val="C7C7D0"/>
            </a:solidFill>
            <a:prstDash val="solid"/>
          </a:ln>
        </p:spPr>
      </p:sp>
      <p:sp>
        <p:nvSpPr>
          <p:cNvPr id="25" name="Text 23"/>
          <p:cNvSpPr/>
          <p:nvPr/>
        </p:nvSpPr>
        <p:spPr>
          <a:xfrm>
            <a:off x="6349444" y="3110409"/>
            <a:ext cx="232563" cy="290711"/>
          </a:xfrm>
          <a:prstGeom prst="rect">
            <a:avLst/>
          </a:prstGeom>
          <a:noFill/>
          <a:ln/>
        </p:spPr>
        <p:txBody>
          <a:bodyPr wrap="none" lIns="0" tIns="0" rIns="0" bIns="0" rtlCol="0" anchor="ctr"/>
          <a:lstStyle/>
          <a:p>
            <a:pPr algn="ctr" indent="0" marL="0">
              <a:lnSpc>
                <a:spcPct val="100000"/>
              </a:lnSpc>
              <a:buNone/>
            </a:pPr>
            <a:r>
              <a:rPr lang="en-US" sz="1800" dirty="0">
                <a:solidFill>
                  <a:srgbClr val="3C3939"/>
                </a:solidFill>
                <a:latin typeface="Raleway" pitchFamily="34" charset="0"/>
                <a:ea typeface="Raleway" pitchFamily="34" charset="-122"/>
                <a:cs typeface="Raleway" pitchFamily="34" charset="-120"/>
              </a:rPr>
              <a:t>2</a:t>
            </a:r>
            <a:endParaRPr lang="en-US" sz="1800" dirty="0"/>
          </a:p>
        </p:txBody>
      </p:sp>
      <p:sp>
        <p:nvSpPr>
          <p:cNvPr id="26" name="Text 24"/>
          <p:cNvSpPr/>
          <p:nvPr/>
        </p:nvSpPr>
        <p:spPr>
          <a:xfrm>
            <a:off x="6785500" y="3134618"/>
            <a:ext cx="4751070" cy="242193"/>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Data Consistency Check</a:t>
            </a:r>
            <a:endParaRPr lang="en-US" sz="1500" dirty="0"/>
          </a:p>
        </p:txBody>
      </p:sp>
      <p:sp>
        <p:nvSpPr>
          <p:cNvPr id="27" name="Text 25"/>
          <p:cNvSpPr/>
          <p:nvPr/>
        </p:nvSpPr>
        <p:spPr>
          <a:xfrm>
            <a:off x="6785500" y="3522166"/>
            <a:ext cx="4751070" cy="49331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Verified if </a:t>
            </a:r>
            <a:pPr algn="l" indent="0" marL="0">
              <a:lnSpc>
                <a:spcPct val="1290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discount_applied</a:t>
            </a:r>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 and </a:t>
            </a:r>
            <a:pPr algn="l" indent="0" marL="0">
              <a:lnSpc>
                <a:spcPct val="1290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promo_code_used</a:t>
            </a:r>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 were redundant; dropped </a:t>
            </a:r>
            <a:pPr algn="l" indent="0" marL="0">
              <a:lnSpc>
                <a:spcPct val="1290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promo_code_used</a:t>
            </a:r>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a:t>
            </a:r>
            <a:endParaRPr lang="en-US" sz="1200" dirty="0"/>
          </a:p>
        </p:txBody>
      </p:sp>
      <p:sp>
        <p:nvSpPr>
          <p:cNvPr id="28" name="Shape 26"/>
          <p:cNvSpPr/>
          <p:nvPr/>
        </p:nvSpPr>
        <p:spPr>
          <a:xfrm>
            <a:off x="6291304" y="4306193"/>
            <a:ext cx="348844" cy="348853"/>
          </a:xfrm>
          <a:prstGeom prst="roundRect">
            <a:avLst>
              <a:gd name="adj" fmla="val 18668"/>
            </a:avLst>
          </a:prstGeom>
          <a:solidFill>
            <a:srgbClr val="E1E1EA"/>
          </a:solidFill>
          <a:ln w="6350">
            <a:solidFill>
              <a:srgbClr val="C7C7D0"/>
            </a:solidFill>
            <a:prstDash val="solid"/>
          </a:ln>
        </p:spPr>
      </p:sp>
      <p:sp>
        <p:nvSpPr>
          <p:cNvPr id="29" name="Text 27"/>
          <p:cNvSpPr/>
          <p:nvPr/>
        </p:nvSpPr>
        <p:spPr>
          <a:xfrm>
            <a:off x="6349444" y="4335264"/>
            <a:ext cx="232563" cy="290711"/>
          </a:xfrm>
          <a:prstGeom prst="rect">
            <a:avLst/>
          </a:prstGeom>
          <a:noFill/>
          <a:ln/>
        </p:spPr>
        <p:txBody>
          <a:bodyPr wrap="none" lIns="0" tIns="0" rIns="0" bIns="0" rtlCol="0" anchor="ctr"/>
          <a:lstStyle/>
          <a:p>
            <a:pPr algn="ctr" indent="0" marL="0">
              <a:lnSpc>
                <a:spcPct val="100000"/>
              </a:lnSpc>
              <a:buNone/>
            </a:pPr>
            <a:r>
              <a:rPr lang="en-US" sz="1800" dirty="0">
                <a:solidFill>
                  <a:srgbClr val="3C3939"/>
                </a:solidFill>
                <a:latin typeface="Raleway" pitchFamily="34" charset="0"/>
                <a:ea typeface="Raleway" pitchFamily="34" charset="-122"/>
                <a:cs typeface="Raleway" pitchFamily="34" charset="-120"/>
              </a:rPr>
              <a:t>3</a:t>
            </a:r>
            <a:endParaRPr lang="en-US" sz="1800" dirty="0"/>
          </a:p>
        </p:txBody>
      </p:sp>
      <p:sp>
        <p:nvSpPr>
          <p:cNvPr id="30" name="Text 28"/>
          <p:cNvSpPr/>
          <p:nvPr/>
        </p:nvSpPr>
        <p:spPr>
          <a:xfrm>
            <a:off x="6785500" y="4359473"/>
            <a:ext cx="4751070" cy="242193"/>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Database Integration</a:t>
            </a:r>
            <a:endParaRPr lang="en-US" sz="1500" dirty="0"/>
          </a:p>
        </p:txBody>
      </p:sp>
      <p:sp>
        <p:nvSpPr>
          <p:cNvPr id="31" name="Text 29"/>
          <p:cNvSpPr/>
          <p:nvPr/>
        </p:nvSpPr>
        <p:spPr>
          <a:xfrm>
            <a:off x="6785500" y="4747022"/>
            <a:ext cx="4751070" cy="48061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C3939"/>
                </a:solidFill>
                <a:latin typeface="Roboto" pitchFamily="34" charset="0"/>
                <a:ea typeface="Roboto" pitchFamily="34" charset="-122"/>
                <a:cs typeface="Roboto" pitchFamily="34" charset="-120"/>
              </a:rPr>
              <a:t>Connected Python script to PostgreSQL and loaded the cleaned DataFrame into the database for SQL analysis.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31118"/>
            <a:ext cx="10868745" cy="460375"/>
          </a:xfrm>
          <a:prstGeom prst="rect">
            <a:avLst/>
          </a:prstGeom>
          <a:noFill/>
          <a:ln/>
        </p:spPr>
        <p:txBody>
          <a:bodyPr wrap="none" lIns="0" tIns="0" rIns="0" bIns="0" rtlCol="0" anchor="t"/>
          <a:lstStyle/>
          <a:p>
            <a:pPr algn="l" indent="0" marL="0">
              <a:lnSpc>
                <a:spcPct val="104000"/>
              </a:lnSpc>
              <a:buNone/>
            </a:pPr>
            <a:r>
              <a:rPr lang="en-US" sz="2850" dirty="0">
                <a:solidFill>
                  <a:srgbClr val="1B1B27"/>
                </a:solidFill>
                <a:latin typeface="Raleway" pitchFamily="34" charset="0"/>
                <a:ea typeface="Raleway" pitchFamily="34" charset="-122"/>
                <a:cs typeface="Raleway" pitchFamily="34" charset="-120"/>
              </a:rPr>
              <a:t>Data Analysis using SQL (Business Transactions)</a:t>
            </a:r>
            <a:endParaRPr lang="en-US" sz="2850" dirty="0"/>
          </a:p>
        </p:txBody>
      </p:sp>
      <p:sp>
        <p:nvSpPr>
          <p:cNvPr id="3" name="Text 1"/>
          <p:cNvSpPr/>
          <p:nvPr/>
        </p:nvSpPr>
        <p:spPr>
          <a:xfrm>
            <a:off x="661475" y="1253827"/>
            <a:ext cx="11478330"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We performed structured analysis in PostgreSQL to answer key business questions:</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1475" y="1771749"/>
          <a:ext cx="9143771" cy="914400"/>
        </p:xfrm>
        <a:graphic>
          <a:graphicData uri="http://schemas.openxmlformats.org/drawingml/2006/table">
            <a:tbl>
              <a:tblPr/>
              <a:tblGrid>
                <a:gridCol w="2627346"/>
                <a:gridCol w="2627346"/>
              </a:tblGrid>
              <a:tr h="396071">
                <a:tc>
                  <a:txBody>
                    <a:bodyPr/>
                    <a:lstStyle/>
                    <a:p>
                      <a:pPr indent="0" marL="0">
                        <a:buNone/>
                      </a:pPr>
                      <a:r>
                        <a:rPr lang="en-US" sz="1150" b="1" dirty="0">
                          <a:solidFill>
                            <a:srgbClr val="3C3939"/>
                          </a:solidFill>
                          <a:latin typeface="Roboto" pitchFamily="34" charset="0"/>
                          <a:ea typeface="Roboto" pitchFamily="34" charset="-122"/>
                          <a:cs typeface="Roboto" pitchFamily="34" charset="-120"/>
                        </a:rPr>
                        <a:t>Business Question</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b="1" dirty="0">
                          <a:solidFill>
                            <a:srgbClr val="3C3939"/>
                          </a:solidFill>
                          <a:latin typeface="Roboto" pitchFamily="34" charset="0"/>
                          <a:ea typeface="Roboto" pitchFamily="34" charset="-122"/>
                          <a:cs typeface="Roboto" pitchFamily="34" charset="-120"/>
                        </a:rPr>
                        <a:t>Key Finding</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99246">
                <a:tc>
                  <a:txBody>
                    <a:bodyPr/>
                    <a:lstStyle/>
                    <a:p>
                      <a:pPr indent="0" marL="0">
                        <a:buNone/>
                      </a:pPr>
                      <a:r>
                        <a:rPr lang="en-US" sz="1150" dirty="0">
                          <a:solidFill>
                            <a:srgbClr val="3C3939"/>
                          </a:solidFill>
                          <a:latin typeface="Roboto" pitchFamily="34" charset="0"/>
                          <a:ea typeface="Roboto" pitchFamily="34" charset="-122"/>
                          <a:cs typeface="Roboto" pitchFamily="34" charset="-120"/>
                        </a:rPr>
                        <a:t>Revenue by Gender</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dirty="0">
                          <a:solidFill>
                            <a:srgbClr val="3C3939"/>
                          </a:solidFill>
                          <a:latin typeface="Roboto" pitchFamily="34" charset="0"/>
                          <a:ea typeface="Roboto" pitchFamily="34" charset="-122"/>
                          <a:cs typeface="Roboto" pitchFamily="34" charset="-120"/>
                        </a:rPr>
                        <a:t>Female: $75,191 | Male: $157,890</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622086">
                <a:tc>
                  <a:txBody>
                    <a:bodyPr/>
                    <a:lstStyle/>
                    <a:p>
                      <a:pPr indent="0" marL="0">
                        <a:buNone/>
                      </a:pPr>
                      <a:r>
                        <a:rPr lang="en-US" sz="1150" dirty="0">
                          <a:solidFill>
                            <a:srgbClr val="3C3939"/>
                          </a:solidFill>
                          <a:latin typeface="Roboto" pitchFamily="34" charset="0"/>
                          <a:ea typeface="Roboto" pitchFamily="34" charset="-122"/>
                          <a:cs typeface="Roboto" pitchFamily="34" charset="-120"/>
                        </a:rPr>
                        <a:t>High-Spending Discount Users</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dirty="0">
                          <a:solidFill>
                            <a:srgbClr val="3C3939"/>
                          </a:solidFill>
                          <a:latin typeface="Roboto" pitchFamily="34" charset="0"/>
                          <a:ea typeface="Roboto" pitchFamily="34" charset="-122"/>
                          <a:cs typeface="Roboto" pitchFamily="34" charset="-120"/>
                        </a:rPr>
                        <a:t>839 customers spent above avg despite using discounts</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622086">
                <a:tc>
                  <a:txBody>
                    <a:bodyPr/>
                    <a:lstStyle/>
                    <a:p>
                      <a:pPr indent="0" marL="0">
                        <a:buNone/>
                      </a:pPr>
                      <a:r>
                        <a:rPr lang="en-US" sz="1150" dirty="0">
                          <a:solidFill>
                            <a:srgbClr val="3C3939"/>
                          </a:solidFill>
                          <a:latin typeface="Roboto" pitchFamily="34" charset="0"/>
                          <a:ea typeface="Roboto" pitchFamily="34" charset="-122"/>
                          <a:cs typeface="Roboto" pitchFamily="34" charset="-120"/>
                        </a:rPr>
                        <a:t>Top 5 Products by Rating</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dirty="0">
                          <a:solidFill>
                            <a:srgbClr val="3C3939"/>
                          </a:solidFill>
                          <a:latin typeface="Roboto" pitchFamily="34" charset="0"/>
                          <a:ea typeface="Roboto" pitchFamily="34" charset="-122"/>
                          <a:cs typeface="Roboto" pitchFamily="34" charset="-120"/>
                        </a:rPr>
                        <a:t>Gloves (3.86), Sandals (3.84), Boots (3.82), Hat (3.80), Skirt (3.78)</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622086">
                <a:tc>
                  <a:txBody>
                    <a:bodyPr/>
                    <a:lstStyle/>
                    <a:p>
                      <a:pPr indent="0" marL="0">
                        <a:buNone/>
                      </a:pPr>
                      <a:r>
                        <a:rPr lang="en-US" sz="1150" dirty="0">
                          <a:solidFill>
                            <a:srgbClr val="3C3939"/>
                          </a:solidFill>
                          <a:latin typeface="Roboto" pitchFamily="34" charset="0"/>
                          <a:ea typeface="Roboto" pitchFamily="34" charset="-122"/>
                          <a:cs typeface="Roboto" pitchFamily="34" charset="-120"/>
                        </a:rPr>
                        <a:t>Shipping Type Comparison</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dirty="0">
                          <a:solidFill>
                            <a:srgbClr val="3C3939"/>
                          </a:solidFill>
                          <a:latin typeface="Roboto" pitchFamily="34" charset="0"/>
                          <a:ea typeface="Roboto" pitchFamily="34" charset="-122"/>
                          <a:cs typeface="Roboto" pitchFamily="34" charset="-120"/>
                        </a:rPr>
                        <a:t>Standard: $58.46 avg | Express: $60.48 avg</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1064591">
                <a:tc>
                  <a:txBody>
                    <a:bodyPr/>
                    <a:lstStyle/>
                    <a:p>
                      <a:pPr indent="0" marL="0">
                        <a:buNone/>
                      </a:pPr>
                      <a:r>
                        <a:rPr lang="en-US" sz="1150" dirty="0">
                          <a:solidFill>
                            <a:srgbClr val="3C3939"/>
                          </a:solidFill>
                          <a:latin typeface="Roboto" pitchFamily="34" charset="0"/>
                          <a:ea typeface="Roboto" pitchFamily="34" charset="-122"/>
                          <a:cs typeface="Roboto" pitchFamily="34" charset="-120"/>
                        </a:rPr>
                        <a:t>Subscribers vs. Non-Subscribers</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dirty="0">
                          <a:solidFill>
                            <a:srgbClr val="3C3939"/>
                          </a:solidFill>
                          <a:latin typeface="Roboto" pitchFamily="34" charset="0"/>
                          <a:ea typeface="Roboto" pitchFamily="34" charset="-122"/>
                          <a:cs typeface="Roboto" pitchFamily="34" charset="-120"/>
                        </a:rPr>
                        <a:t>Yes: 1,053 customers, $59.49 avg, $62,645 total | No: 2,847 customers, $59.87 avg, $170,436 total</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81878" y="1771749"/>
          <a:ext cx="9143771" cy="914400"/>
        </p:xfrm>
        <a:graphic>
          <a:graphicData uri="http://schemas.openxmlformats.org/drawingml/2006/table">
            <a:tbl>
              <a:tblPr/>
              <a:tblGrid>
                <a:gridCol w="2627346"/>
                <a:gridCol w="2627346"/>
              </a:tblGrid>
              <a:tr h="396071">
                <a:tc>
                  <a:txBody>
                    <a:bodyPr/>
                    <a:lstStyle/>
                    <a:p>
                      <a:pPr indent="0" marL="0">
                        <a:buNone/>
                      </a:pPr>
                      <a:r>
                        <a:rPr lang="en-US" sz="1150" b="1" dirty="0">
                          <a:solidFill>
                            <a:srgbClr val="3C3939"/>
                          </a:solidFill>
                          <a:latin typeface="Roboto" pitchFamily="34" charset="0"/>
                          <a:ea typeface="Roboto" pitchFamily="34" charset="-122"/>
                          <a:cs typeface="Roboto" pitchFamily="34" charset="-120"/>
                        </a:rPr>
                        <a:t>Business Question</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b="1" dirty="0">
                          <a:solidFill>
                            <a:srgbClr val="3C3939"/>
                          </a:solidFill>
                          <a:latin typeface="Roboto" pitchFamily="34" charset="0"/>
                          <a:ea typeface="Roboto" pitchFamily="34" charset="-122"/>
                          <a:cs typeface="Roboto" pitchFamily="34" charset="-120"/>
                        </a:rPr>
                        <a:t>Key Finding</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844926">
                <a:tc>
                  <a:txBody>
                    <a:bodyPr/>
                    <a:lstStyle/>
                    <a:p>
                      <a:pPr indent="0" marL="0">
                        <a:buNone/>
                      </a:pPr>
                      <a:r>
                        <a:rPr lang="en-US" sz="1150" dirty="0">
                          <a:solidFill>
                            <a:srgbClr val="3C3939"/>
                          </a:solidFill>
                          <a:latin typeface="Roboto" pitchFamily="34" charset="0"/>
                          <a:ea typeface="Roboto" pitchFamily="34" charset="-122"/>
                          <a:cs typeface="Roboto" pitchFamily="34" charset="-120"/>
                        </a:rPr>
                        <a:t>Discount-Dependent Products</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dirty="0">
                          <a:solidFill>
                            <a:srgbClr val="3C3939"/>
                          </a:solidFill>
                          <a:latin typeface="Roboto" pitchFamily="34" charset="0"/>
                          <a:ea typeface="Roboto" pitchFamily="34" charset="-122"/>
                          <a:cs typeface="Roboto" pitchFamily="34" charset="-120"/>
                        </a:rPr>
                        <a:t>Hat (50.00%), Sneakers (49.66%), Coat (49.07%), Sweater (48.17%), Pants (47.37%)</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622086">
                <a:tc>
                  <a:txBody>
                    <a:bodyPr/>
                    <a:lstStyle/>
                    <a:p>
                      <a:pPr indent="0" marL="0">
                        <a:buNone/>
                      </a:pPr>
                      <a:r>
                        <a:rPr lang="en-US" sz="1150" dirty="0">
                          <a:solidFill>
                            <a:srgbClr val="3C3939"/>
                          </a:solidFill>
                          <a:latin typeface="Roboto" pitchFamily="34" charset="0"/>
                          <a:ea typeface="Roboto" pitchFamily="34" charset="-122"/>
                          <a:cs typeface="Roboto" pitchFamily="34" charset="-120"/>
                        </a:rPr>
                        <a:t>Customer Segmentation</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dirty="0">
                          <a:solidFill>
                            <a:srgbClr val="3C3939"/>
                          </a:solidFill>
                          <a:latin typeface="Roboto" pitchFamily="34" charset="0"/>
                          <a:ea typeface="Roboto" pitchFamily="34" charset="-122"/>
                          <a:cs typeface="Roboto" pitchFamily="34" charset="-120"/>
                        </a:rPr>
                        <a:t>Loyal: 3,116 | Returning: 701 | New: 83</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1290605">
                <a:tc>
                  <a:txBody>
                    <a:bodyPr/>
                    <a:lstStyle/>
                    <a:p>
                      <a:pPr indent="0" marL="0">
                        <a:buNone/>
                      </a:pPr>
                      <a:r>
                        <a:rPr lang="en-US" sz="1150" dirty="0">
                          <a:solidFill>
                            <a:srgbClr val="3C3939"/>
                          </a:solidFill>
                          <a:latin typeface="Roboto" pitchFamily="34" charset="0"/>
                          <a:ea typeface="Roboto" pitchFamily="34" charset="-122"/>
                          <a:cs typeface="Roboto" pitchFamily="34" charset="-120"/>
                        </a:rPr>
                        <a:t>Top 3 Products per Category</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dirty="0">
                          <a:solidFill>
                            <a:srgbClr val="3C3939"/>
                          </a:solidFill>
                          <a:latin typeface="Roboto" pitchFamily="34" charset="0"/>
                          <a:ea typeface="Roboto" pitchFamily="34" charset="-122"/>
                          <a:cs typeface="Roboto" pitchFamily="34" charset="-120"/>
                        </a:rPr>
                        <a:t>Accessories (Jewelry, Sunglasses, Belt), Clothing (Blouse, Pants, Shirt), Footwear (Sandals, Shoes, Sneakers), Outerwear (Jacket, Coat)</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399246">
                <a:tc>
                  <a:txBody>
                    <a:bodyPr/>
                    <a:lstStyle/>
                    <a:p>
                      <a:pPr indent="0" marL="0">
                        <a:buNone/>
                      </a:pPr>
                      <a:r>
                        <a:rPr lang="en-US" sz="1150" dirty="0">
                          <a:solidFill>
                            <a:srgbClr val="3C3939"/>
                          </a:solidFill>
                          <a:latin typeface="Roboto" pitchFamily="34" charset="0"/>
                          <a:ea typeface="Roboto" pitchFamily="34" charset="-122"/>
                          <a:cs typeface="Roboto" pitchFamily="34" charset="-120"/>
                        </a:rPr>
                        <a:t>Repeat Buyers &amp; Subscriptions</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dirty="0">
                          <a:solidFill>
                            <a:srgbClr val="3C3939"/>
                          </a:solidFill>
                          <a:latin typeface="Roboto" pitchFamily="34" charset="0"/>
                          <a:ea typeface="Roboto" pitchFamily="34" charset="-122"/>
                          <a:cs typeface="Roboto" pitchFamily="34" charset="-120"/>
                        </a:rPr>
                        <a:t>No: 2,518 | Yes: 958</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841751">
                <a:tc>
                  <a:txBody>
                    <a:bodyPr/>
                    <a:lstStyle/>
                    <a:p>
                      <a:pPr indent="0" marL="0">
                        <a:buNone/>
                      </a:pPr>
                      <a:r>
                        <a:rPr lang="en-US" sz="1150" dirty="0">
                          <a:solidFill>
                            <a:srgbClr val="3C3939"/>
                          </a:solidFill>
                          <a:latin typeface="Roboto" pitchFamily="34" charset="0"/>
                          <a:ea typeface="Roboto" pitchFamily="34" charset="-122"/>
                          <a:cs typeface="Roboto" pitchFamily="34" charset="-120"/>
                        </a:rPr>
                        <a:t>Revenue by Age Group</a:t>
                      </a:r>
                      <a:endParaRPr lang="en-US" sz="1150" dirty="0">
                        <a:latin typeface="Roboto" charset="0"/>
                        <a:ea typeface="Roboto" charset="0"/>
                        <a:cs typeface="Roboto" charset="0"/>
                      </a:endParaRPr>
                    </a:p>
                  </a:txBody>
                  <a:tcPr marL="147302" marR="147302"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1150" dirty="0">
                          <a:solidFill>
                            <a:srgbClr val="3C3939"/>
                          </a:solidFill>
                          <a:latin typeface="Roboto" pitchFamily="34" charset="0"/>
                          <a:ea typeface="Roboto" pitchFamily="34" charset="-122"/>
                          <a:cs typeface="Roboto" pitchFamily="34" charset="-120"/>
                        </a:rPr>
                        <a:t>Young Adult: $62,143 | Middle-aged: $59,197 | Adult: $55,978 | Senior: $55,763</a:t>
                      </a:r>
                      <a:endParaRPr lang="en-US" sz="1150" dirty="0">
                        <a:latin typeface="Roboto" charset="0"/>
                        <a:ea typeface="Roboto" charset="0"/>
                        <a:cs typeface="Roboto" charset="0"/>
                      </a:endParaRPr>
                    </a:p>
                  </a:txBody>
                  <a:tcPr marL="147302" marR="147302"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01749"/>
            <a:ext cx="10868745" cy="355302"/>
          </a:xfrm>
          <a:prstGeom prst="rect">
            <a:avLst/>
          </a:prstGeom>
          <a:noFill/>
          <a:ln/>
        </p:spPr>
        <p:txBody>
          <a:bodyPr wrap="none" lIns="0" tIns="0" rIns="0" bIns="0" rtlCol="0" anchor="t"/>
          <a:lstStyle/>
          <a:p>
            <a:pPr algn="l" indent="0" marL="0">
              <a:lnSpc>
                <a:spcPct val="104000"/>
              </a:lnSpc>
              <a:buNone/>
            </a:pPr>
            <a:r>
              <a:rPr lang="en-US" sz="2200" dirty="0">
                <a:solidFill>
                  <a:srgbClr val="1B1B27"/>
                </a:solidFill>
                <a:latin typeface="Raleway" pitchFamily="34" charset="0"/>
                <a:ea typeface="Raleway" pitchFamily="34" charset="-122"/>
                <a:cs typeface="Raleway" pitchFamily="34" charset="-120"/>
              </a:rPr>
              <a:t>Dashboard in Power BI</a:t>
            </a:r>
            <a:endParaRPr lang="en-US" sz="2200" dirty="0"/>
          </a:p>
        </p:txBody>
      </p:sp>
      <p:sp>
        <p:nvSpPr>
          <p:cNvPr id="3" name="Text 1"/>
          <p:cNvSpPr/>
          <p:nvPr/>
        </p:nvSpPr>
        <p:spPr>
          <a:xfrm>
            <a:off x="661475" y="1013321"/>
            <a:ext cx="11478330" cy="153491"/>
          </a:xfrm>
          <a:prstGeom prst="rect">
            <a:avLst/>
          </a:prstGeom>
          <a:noFill/>
          <a:ln/>
        </p:spPr>
        <p:txBody>
          <a:bodyPr wrap="none" lIns="0" tIns="0" rIns="0" bIns="0" rtlCol="0" anchor="t"/>
          <a:lstStyle/>
          <a:p>
            <a:pPr algn="l" indent="0" marL="0">
              <a:lnSpc>
                <a:spcPct val="112000"/>
              </a:lnSpc>
              <a:buNone/>
            </a:pPr>
            <a:r>
              <a:rPr lang="en-US" sz="850" dirty="0">
                <a:solidFill>
                  <a:srgbClr val="3C3939"/>
                </a:solidFill>
                <a:latin typeface="Roboto" pitchFamily="34" charset="0"/>
                <a:ea typeface="Roboto" pitchFamily="34" charset="-122"/>
                <a:cs typeface="Roboto" pitchFamily="34" charset="-120"/>
              </a:rPr>
              <a:t>Finally, we built an interactive dashboard in Power BI to present insights visually.</a:t>
            </a:r>
            <a:endParaRPr lang="en-US" sz="850" dirty="0"/>
          </a:p>
        </p:txBody>
      </p:sp>
      <p:pic>
        <p:nvPicPr>
          <p:cNvPr id="4" name="Image 0" descr="preencoded.png">    </p:cNvPr>
          <p:cNvPicPr>
            <a:picLocks noChangeAspect="1"/>
          </p:cNvPicPr>
          <p:nvPr/>
        </p:nvPicPr>
        <p:blipFill>
          <a:blip r:embed="rId1"/>
          <a:stretch>
            <a:fillRect/>
          </a:stretch>
        </p:blipFill>
        <p:spPr>
          <a:xfrm>
            <a:off x="661475" y="1254720"/>
            <a:ext cx="5948214" cy="3205063"/>
          </a:xfrm>
          <a:prstGeom prst="rect">
            <a:avLst/>
          </a:prstGeom>
        </p:spPr>
      </p:pic>
      <p:sp>
        <p:nvSpPr>
          <p:cNvPr id="5" name="Text 2"/>
          <p:cNvSpPr/>
          <p:nvPr/>
        </p:nvSpPr>
        <p:spPr>
          <a:xfrm>
            <a:off x="661475" y="4625777"/>
            <a:ext cx="5295668" cy="177701"/>
          </a:xfrm>
          <a:prstGeom prst="rect">
            <a:avLst/>
          </a:prstGeom>
          <a:noFill/>
          <a:ln/>
        </p:spPr>
        <p:txBody>
          <a:bodyPr wrap="none" lIns="0" tIns="0" rIns="0" bIns="0" rtlCol="0" anchor="t"/>
          <a:lstStyle/>
          <a:p>
            <a:pPr algn="l" indent="0" marL="0">
              <a:lnSpc>
                <a:spcPct val="104000"/>
              </a:lnSpc>
              <a:buNone/>
            </a:pPr>
            <a:r>
              <a:rPr lang="en-US" sz="1100" dirty="0">
                <a:solidFill>
                  <a:srgbClr val="1B1B27"/>
                </a:solidFill>
                <a:latin typeface="Raleway" pitchFamily="34" charset="0"/>
                <a:ea typeface="Raleway" pitchFamily="34" charset="-122"/>
                <a:cs typeface="Raleway" pitchFamily="34" charset="-120"/>
              </a:rPr>
              <a:t>Key Metrics Displayed</a:t>
            </a:r>
            <a:endParaRPr lang="en-US" sz="1100" dirty="0"/>
          </a:p>
        </p:txBody>
      </p:sp>
      <p:sp>
        <p:nvSpPr>
          <p:cNvPr id="6" name="Shape 3"/>
          <p:cNvSpPr/>
          <p:nvPr/>
        </p:nvSpPr>
        <p:spPr>
          <a:xfrm>
            <a:off x="661475" y="4891385"/>
            <a:ext cx="2608793" cy="649387"/>
          </a:xfrm>
          <a:prstGeom prst="roundRect">
            <a:avLst>
              <a:gd name="adj" fmla="val 7354"/>
            </a:avLst>
          </a:prstGeom>
          <a:solidFill>
            <a:srgbClr val="E1E1EA"/>
          </a:solidFill>
          <a:ln w="6350">
            <a:solidFill>
              <a:srgbClr val="C7C7D0"/>
            </a:solidFill>
            <a:prstDash val="solid"/>
          </a:ln>
        </p:spPr>
      </p:sp>
      <p:sp>
        <p:nvSpPr>
          <p:cNvPr id="7" name="Text 4"/>
          <p:cNvSpPr/>
          <p:nvPr/>
        </p:nvSpPr>
        <p:spPr>
          <a:xfrm>
            <a:off x="781527" y="5011440"/>
            <a:ext cx="2368689" cy="177701"/>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3.9K</a:t>
            </a:r>
            <a:endParaRPr lang="en-US" sz="1100" dirty="0"/>
          </a:p>
        </p:txBody>
      </p:sp>
      <p:sp>
        <p:nvSpPr>
          <p:cNvPr id="8" name="Text 5"/>
          <p:cNvSpPr/>
          <p:nvPr/>
        </p:nvSpPr>
        <p:spPr>
          <a:xfrm>
            <a:off x="781527" y="5267226"/>
            <a:ext cx="2368689" cy="153491"/>
          </a:xfrm>
          <a:prstGeom prst="rect">
            <a:avLst/>
          </a:prstGeom>
          <a:noFill/>
          <a:ln/>
        </p:spPr>
        <p:txBody>
          <a:bodyPr wrap="none" lIns="0" tIns="0" rIns="0" bIns="0" rtlCol="0" anchor="t"/>
          <a:lstStyle/>
          <a:p>
            <a:pPr algn="l" indent="0" marL="0">
              <a:lnSpc>
                <a:spcPct val="112000"/>
              </a:lnSpc>
              <a:buNone/>
            </a:pPr>
            <a:r>
              <a:rPr lang="en-US" sz="850" dirty="0">
                <a:solidFill>
                  <a:srgbClr val="3C3939"/>
                </a:solidFill>
                <a:latin typeface="Roboto" pitchFamily="34" charset="0"/>
                <a:ea typeface="Roboto" pitchFamily="34" charset="-122"/>
                <a:cs typeface="Roboto" pitchFamily="34" charset="-120"/>
              </a:rPr>
              <a:t>Number of Customers</a:t>
            </a:r>
            <a:endParaRPr lang="en-US" sz="850" dirty="0"/>
          </a:p>
        </p:txBody>
      </p:sp>
      <p:sp>
        <p:nvSpPr>
          <p:cNvPr id="9" name="Shape 6"/>
          <p:cNvSpPr/>
          <p:nvPr/>
        </p:nvSpPr>
        <p:spPr>
          <a:xfrm>
            <a:off x="3348351" y="4891385"/>
            <a:ext cx="2608793" cy="649387"/>
          </a:xfrm>
          <a:prstGeom prst="roundRect">
            <a:avLst>
              <a:gd name="adj" fmla="val 7354"/>
            </a:avLst>
          </a:prstGeom>
          <a:solidFill>
            <a:srgbClr val="E1E1EA"/>
          </a:solidFill>
          <a:ln w="6350">
            <a:solidFill>
              <a:srgbClr val="C7C7D0"/>
            </a:solidFill>
            <a:prstDash val="solid"/>
          </a:ln>
        </p:spPr>
      </p:sp>
      <p:sp>
        <p:nvSpPr>
          <p:cNvPr id="10" name="Text 7"/>
          <p:cNvSpPr/>
          <p:nvPr/>
        </p:nvSpPr>
        <p:spPr>
          <a:xfrm>
            <a:off x="3468402" y="5011440"/>
            <a:ext cx="2368689" cy="177701"/>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$59.76</a:t>
            </a:r>
            <a:endParaRPr lang="en-US" sz="1100" dirty="0"/>
          </a:p>
        </p:txBody>
      </p:sp>
      <p:sp>
        <p:nvSpPr>
          <p:cNvPr id="11" name="Text 8"/>
          <p:cNvSpPr/>
          <p:nvPr/>
        </p:nvSpPr>
        <p:spPr>
          <a:xfrm>
            <a:off x="3468402" y="5267226"/>
            <a:ext cx="2368689" cy="153491"/>
          </a:xfrm>
          <a:prstGeom prst="rect">
            <a:avLst/>
          </a:prstGeom>
          <a:noFill/>
          <a:ln/>
        </p:spPr>
        <p:txBody>
          <a:bodyPr wrap="none" lIns="0" tIns="0" rIns="0" bIns="0" rtlCol="0" anchor="t"/>
          <a:lstStyle/>
          <a:p>
            <a:pPr algn="l" indent="0" marL="0">
              <a:lnSpc>
                <a:spcPct val="112000"/>
              </a:lnSpc>
              <a:buNone/>
            </a:pPr>
            <a:r>
              <a:rPr lang="en-US" sz="850" dirty="0">
                <a:solidFill>
                  <a:srgbClr val="3C3939"/>
                </a:solidFill>
                <a:latin typeface="Roboto" pitchFamily="34" charset="0"/>
                <a:ea typeface="Roboto" pitchFamily="34" charset="-122"/>
                <a:cs typeface="Roboto" pitchFamily="34" charset="-120"/>
              </a:rPr>
              <a:t>Average Purchase Amount</a:t>
            </a:r>
            <a:endParaRPr lang="en-US" sz="850" dirty="0"/>
          </a:p>
        </p:txBody>
      </p:sp>
      <p:sp>
        <p:nvSpPr>
          <p:cNvPr id="12" name="Shape 9"/>
          <p:cNvSpPr/>
          <p:nvPr/>
        </p:nvSpPr>
        <p:spPr>
          <a:xfrm>
            <a:off x="661475" y="5618857"/>
            <a:ext cx="5295668" cy="649387"/>
          </a:xfrm>
          <a:prstGeom prst="roundRect">
            <a:avLst>
              <a:gd name="adj" fmla="val 7354"/>
            </a:avLst>
          </a:prstGeom>
          <a:solidFill>
            <a:srgbClr val="E1E1EA"/>
          </a:solidFill>
          <a:ln w="6350">
            <a:solidFill>
              <a:srgbClr val="C7C7D0"/>
            </a:solidFill>
            <a:prstDash val="solid"/>
          </a:ln>
        </p:spPr>
      </p:sp>
      <p:sp>
        <p:nvSpPr>
          <p:cNvPr id="13" name="Text 10"/>
          <p:cNvSpPr/>
          <p:nvPr/>
        </p:nvSpPr>
        <p:spPr>
          <a:xfrm>
            <a:off x="781527" y="5738912"/>
            <a:ext cx="5055565" cy="177701"/>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3.75</a:t>
            </a:r>
            <a:endParaRPr lang="en-US" sz="1100" dirty="0"/>
          </a:p>
        </p:txBody>
      </p:sp>
      <p:sp>
        <p:nvSpPr>
          <p:cNvPr id="14" name="Text 11"/>
          <p:cNvSpPr/>
          <p:nvPr/>
        </p:nvSpPr>
        <p:spPr>
          <a:xfrm>
            <a:off x="781527" y="5994698"/>
            <a:ext cx="5055565" cy="153491"/>
          </a:xfrm>
          <a:prstGeom prst="rect">
            <a:avLst/>
          </a:prstGeom>
          <a:noFill/>
          <a:ln/>
        </p:spPr>
        <p:txBody>
          <a:bodyPr wrap="none" lIns="0" tIns="0" rIns="0" bIns="0" rtlCol="0" anchor="t"/>
          <a:lstStyle/>
          <a:p>
            <a:pPr algn="l" indent="0" marL="0">
              <a:lnSpc>
                <a:spcPct val="112000"/>
              </a:lnSpc>
              <a:buNone/>
            </a:pPr>
            <a:r>
              <a:rPr lang="en-US" sz="850" dirty="0">
                <a:solidFill>
                  <a:srgbClr val="3C3939"/>
                </a:solidFill>
                <a:latin typeface="Roboto" pitchFamily="34" charset="0"/>
                <a:ea typeface="Roboto" pitchFamily="34" charset="-122"/>
                <a:cs typeface="Roboto" pitchFamily="34" charset="-120"/>
              </a:rPr>
              <a:t>Average Review Rating</a:t>
            </a:r>
            <a:endParaRPr lang="en-US" sz="850" dirty="0"/>
          </a:p>
        </p:txBody>
      </p:sp>
      <p:sp>
        <p:nvSpPr>
          <p:cNvPr id="15" name="Text 12"/>
          <p:cNvSpPr/>
          <p:nvPr/>
        </p:nvSpPr>
        <p:spPr>
          <a:xfrm>
            <a:off x="6240902" y="4625777"/>
            <a:ext cx="5295668" cy="177701"/>
          </a:xfrm>
          <a:prstGeom prst="rect">
            <a:avLst/>
          </a:prstGeom>
          <a:noFill/>
          <a:ln/>
        </p:spPr>
        <p:txBody>
          <a:bodyPr wrap="none" lIns="0" tIns="0" rIns="0" bIns="0" rtlCol="0" anchor="t"/>
          <a:lstStyle/>
          <a:p>
            <a:pPr algn="l" indent="0" marL="0">
              <a:lnSpc>
                <a:spcPct val="104000"/>
              </a:lnSpc>
              <a:buNone/>
            </a:pPr>
            <a:r>
              <a:rPr lang="en-US" sz="1100" dirty="0">
                <a:solidFill>
                  <a:srgbClr val="1B1B27"/>
                </a:solidFill>
                <a:latin typeface="Raleway" pitchFamily="34" charset="0"/>
                <a:ea typeface="Raleway" pitchFamily="34" charset="-122"/>
                <a:cs typeface="Raleway" pitchFamily="34" charset="-120"/>
              </a:rPr>
              <a:t>Dashboard Features</a:t>
            </a:r>
            <a:endParaRPr lang="en-US" sz="1100" dirty="0"/>
          </a:p>
        </p:txBody>
      </p:sp>
      <p:sp>
        <p:nvSpPr>
          <p:cNvPr id="16" name="Text 13"/>
          <p:cNvSpPr/>
          <p:nvPr/>
        </p:nvSpPr>
        <p:spPr>
          <a:xfrm>
            <a:off x="6240902" y="4881563"/>
            <a:ext cx="5295668" cy="695821"/>
          </a:xfrm>
          <a:prstGeom prst="rect">
            <a:avLst/>
          </a:prstGeom>
          <a:noFill/>
          <a:ln/>
        </p:spPr>
        <p:txBody>
          <a:bodyPr wrap="square" lIns="0" tIns="45483" rIns="0" bIns="0" rtlCol="0" anchor="t">
            <a:normAutofit/>
          </a:bodyPr>
          <a:lstStyle/>
          <a:p>
            <a:pPr algn="l" marL="172720" indent="-172720">
              <a:lnSpc>
                <a:spcPct val="112000"/>
              </a:lnSpc>
              <a:buSzPct val="100000"/>
              <a:buChar char="•"/>
            </a:pPr>
            <a:r>
              <a:rPr lang="en-US" sz="850" dirty="0">
                <a:solidFill>
                  <a:srgbClr val="3C3939"/>
                </a:solidFill>
                <a:latin typeface="Roboto" pitchFamily="34" charset="0"/>
                <a:ea typeface="Roboto" pitchFamily="34" charset="-122"/>
                <a:cs typeface="Roboto" pitchFamily="34" charset="-120"/>
              </a:rPr>
              <a:t>Sidebar filters: Subscription Status, Gender, Category, Shipping Type</a:t>
            </a:r>
            <a:endParaRPr lang="en-US" sz="850" dirty="0"/>
          </a:p>
          <a:p>
            <a:pPr algn="l" marL="172720" indent="-172720">
              <a:lnSpc>
                <a:spcPct val="112000"/>
              </a:lnSpc>
              <a:buSzPct val="100000"/>
              <a:buChar char="•"/>
            </a:pPr>
            <a:r>
              <a:rPr lang="en-US" sz="850" dirty="0">
                <a:solidFill>
                  <a:srgbClr val="3C3939"/>
                </a:solidFill>
                <a:latin typeface="Roboto" pitchFamily="34" charset="0"/>
                <a:ea typeface="Roboto" pitchFamily="34" charset="-122"/>
                <a:cs typeface="Roboto" pitchFamily="34" charset="-120"/>
              </a:rPr>
              <a:t>Donut chart: 27% subscribers vs. 73% non-subscribers</a:t>
            </a:r>
            <a:endParaRPr lang="en-US" sz="850" dirty="0"/>
          </a:p>
          <a:p>
            <a:pPr algn="l" marL="172720" indent="-172720">
              <a:lnSpc>
                <a:spcPct val="112000"/>
              </a:lnSpc>
              <a:buSzPct val="100000"/>
              <a:buChar char="•"/>
            </a:pPr>
            <a:r>
              <a:rPr lang="en-US" sz="850" dirty="0">
                <a:solidFill>
                  <a:srgbClr val="3C3939"/>
                </a:solidFill>
                <a:latin typeface="Roboto" pitchFamily="34" charset="0"/>
                <a:ea typeface="Roboto" pitchFamily="34" charset="-122"/>
                <a:cs typeface="Roboto" pitchFamily="34" charset="-120"/>
              </a:rPr>
              <a:t>Bar charts: Revenue and Sales by Category (Clothing, Accessories, Footwear, Outerwear)</a:t>
            </a:r>
            <a:endParaRPr lang="en-US" sz="850" dirty="0"/>
          </a:p>
          <a:p>
            <a:pPr algn="l" marL="172720" indent="-172720">
              <a:lnSpc>
                <a:spcPct val="112000"/>
              </a:lnSpc>
              <a:buSzPct val="100000"/>
              <a:buChar char="•"/>
            </a:pPr>
            <a:r>
              <a:rPr lang="en-US" sz="850" dirty="0">
                <a:solidFill>
                  <a:srgbClr val="3C3939"/>
                </a:solidFill>
                <a:latin typeface="Roboto" pitchFamily="34" charset="0"/>
                <a:ea typeface="Roboto" pitchFamily="34" charset="-122"/>
                <a:cs typeface="Roboto" pitchFamily="34" charset="-120"/>
              </a:rPr>
              <a:t>Horizontal bar charts: Revenue and Sales by Age Group (Young Adult, Middle-aged, Adult, Senior)</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20898"/>
            <a:ext cx="10868745" cy="444103"/>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Business Recommendations</a:t>
            </a:r>
            <a:endParaRPr lang="en-US" sz="2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209278"/>
            <a:ext cx="10868745" cy="852785"/>
          </a:xfrm>
          <a:prstGeom prst="rect">
            <a:avLst/>
          </a:prstGeom>
        </p:spPr>
      </p:pic>
      <p:sp>
        <p:nvSpPr>
          <p:cNvPr id="4" name="Text 1"/>
          <p:cNvSpPr/>
          <p:nvPr/>
        </p:nvSpPr>
        <p:spPr>
          <a:xfrm>
            <a:off x="855046" y="1502370"/>
            <a:ext cx="213117" cy="266502"/>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1</a:t>
            </a:r>
            <a:endParaRPr lang="en-US" sz="1650" dirty="0"/>
          </a:p>
        </p:txBody>
      </p:sp>
      <p:sp>
        <p:nvSpPr>
          <p:cNvPr id="5" name="Text 2"/>
          <p:cNvSpPr/>
          <p:nvPr/>
        </p:nvSpPr>
        <p:spPr>
          <a:xfrm>
            <a:off x="1371169" y="1370409"/>
            <a:ext cx="9997924"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Boost Subscriptions</a:t>
            </a:r>
            <a:endParaRPr lang="en-US" sz="1350" dirty="0"/>
          </a:p>
        </p:txBody>
      </p:sp>
      <p:sp>
        <p:nvSpPr>
          <p:cNvPr id="6" name="Text 3"/>
          <p:cNvSpPr/>
          <p:nvPr/>
        </p:nvSpPr>
        <p:spPr>
          <a:xfrm>
            <a:off x="1371169" y="1665684"/>
            <a:ext cx="9997924" cy="211435"/>
          </a:xfrm>
          <a:prstGeom prst="rect">
            <a:avLst/>
          </a:prstGeom>
          <a:noFill/>
          <a:ln/>
        </p:spPr>
        <p:txBody>
          <a:bodyPr wrap="none" lIns="0" tIns="0" rIns="0" bIns="0" rtlCol="0" anchor="t"/>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Promote exclusive benefits for subscribers. With only 27% of customers subscribed, there is significant headroom to grow this high-retention segment.</a:t>
            </a:r>
            <a:endParaRPr lang="en-US" sz="11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184202"/>
            <a:ext cx="10868745" cy="852785"/>
          </a:xfrm>
          <a:prstGeom prst="rect">
            <a:avLst/>
          </a:prstGeom>
        </p:spPr>
      </p:pic>
      <p:sp>
        <p:nvSpPr>
          <p:cNvPr id="8" name="Text 4"/>
          <p:cNvSpPr/>
          <p:nvPr/>
        </p:nvSpPr>
        <p:spPr>
          <a:xfrm>
            <a:off x="855046" y="2477294"/>
            <a:ext cx="213117" cy="266502"/>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2</a:t>
            </a:r>
            <a:endParaRPr lang="en-US" sz="1650" dirty="0"/>
          </a:p>
        </p:txBody>
      </p:sp>
      <p:sp>
        <p:nvSpPr>
          <p:cNvPr id="9" name="Text 5"/>
          <p:cNvSpPr/>
          <p:nvPr/>
        </p:nvSpPr>
        <p:spPr>
          <a:xfrm>
            <a:off x="1371169" y="2345333"/>
            <a:ext cx="9997924"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Customer Loyalty Programs</a:t>
            </a:r>
            <a:endParaRPr lang="en-US" sz="1350" dirty="0"/>
          </a:p>
        </p:txBody>
      </p:sp>
      <p:sp>
        <p:nvSpPr>
          <p:cNvPr id="10" name="Text 6"/>
          <p:cNvSpPr/>
          <p:nvPr/>
        </p:nvSpPr>
        <p:spPr>
          <a:xfrm>
            <a:off x="1371169" y="2640608"/>
            <a:ext cx="9997924" cy="211435"/>
          </a:xfrm>
          <a:prstGeom prst="rect">
            <a:avLst/>
          </a:prstGeom>
          <a:noFill/>
          <a:ln/>
        </p:spPr>
        <p:txBody>
          <a:bodyPr wrap="none" lIns="0" tIns="0" rIns="0" bIns="0" rtlCol="0" anchor="t"/>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Reward repeat buyers to move them into the "Loyal" segment. With 3,116 loyal customers already, reinforcing this behavior drives long-term revenue stability.</a:t>
            </a:r>
            <a:endParaRPr lang="en-US" sz="11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159125"/>
            <a:ext cx="10868745" cy="1040408"/>
          </a:xfrm>
          <a:prstGeom prst="rect">
            <a:avLst/>
          </a:prstGeom>
        </p:spPr>
      </p:pic>
      <p:sp>
        <p:nvSpPr>
          <p:cNvPr id="12" name="Text 7"/>
          <p:cNvSpPr/>
          <p:nvPr/>
        </p:nvSpPr>
        <p:spPr>
          <a:xfrm>
            <a:off x="855046" y="3546078"/>
            <a:ext cx="213117" cy="266502"/>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3</a:t>
            </a:r>
            <a:endParaRPr lang="en-US" sz="1650" dirty="0"/>
          </a:p>
        </p:txBody>
      </p:sp>
      <p:sp>
        <p:nvSpPr>
          <p:cNvPr id="13" name="Text 8"/>
          <p:cNvSpPr/>
          <p:nvPr/>
        </p:nvSpPr>
        <p:spPr>
          <a:xfrm>
            <a:off x="1371169" y="3320256"/>
            <a:ext cx="9997924"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Review Discount Policy</a:t>
            </a:r>
            <a:endParaRPr lang="en-US" sz="1350" dirty="0"/>
          </a:p>
        </p:txBody>
      </p:sp>
      <p:sp>
        <p:nvSpPr>
          <p:cNvPr id="14" name="Text 9"/>
          <p:cNvSpPr/>
          <p:nvPr/>
        </p:nvSpPr>
        <p:spPr>
          <a:xfrm>
            <a:off x="1371169" y="3615531"/>
            <a:ext cx="9997924"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Balance sales boosts with margin control. Products like Hat (50%) and Sneakers (49.66%) show high discount dependency — evaluate whether discounts are driving incremental revenue or eroding margin.</a:t>
            </a:r>
            <a:endParaRPr lang="en-US" sz="11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321671"/>
            <a:ext cx="10868745" cy="852785"/>
          </a:xfrm>
          <a:prstGeom prst="rect">
            <a:avLst/>
          </a:prstGeom>
        </p:spPr>
      </p:pic>
      <p:sp>
        <p:nvSpPr>
          <p:cNvPr id="16" name="Text 10"/>
          <p:cNvSpPr/>
          <p:nvPr/>
        </p:nvSpPr>
        <p:spPr>
          <a:xfrm>
            <a:off x="855046" y="4614763"/>
            <a:ext cx="213117" cy="266502"/>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4</a:t>
            </a:r>
            <a:endParaRPr lang="en-US" sz="1650" dirty="0"/>
          </a:p>
        </p:txBody>
      </p:sp>
      <p:sp>
        <p:nvSpPr>
          <p:cNvPr id="17" name="Text 11"/>
          <p:cNvSpPr/>
          <p:nvPr/>
        </p:nvSpPr>
        <p:spPr>
          <a:xfrm>
            <a:off x="1371169" y="4482802"/>
            <a:ext cx="9997924"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Product Positioning</a:t>
            </a:r>
            <a:endParaRPr lang="en-US" sz="1350" dirty="0"/>
          </a:p>
        </p:txBody>
      </p:sp>
      <p:sp>
        <p:nvSpPr>
          <p:cNvPr id="18" name="Text 12"/>
          <p:cNvSpPr/>
          <p:nvPr/>
        </p:nvSpPr>
        <p:spPr>
          <a:xfrm>
            <a:off x="1371169" y="4778077"/>
            <a:ext cx="9997924" cy="211435"/>
          </a:xfrm>
          <a:prstGeom prst="rect">
            <a:avLst/>
          </a:prstGeom>
          <a:noFill/>
          <a:ln/>
        </p:spPr>
        <p:txBody>
          <a:bodyPr wrap="none" lIns="0" tIns="0" rIns="0" bIns="0" rtlCol="0" anchor="t"/>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Highlight top-rated and best-selling products in campaigns. Gloves, Sandals, and Boots lead on ratings — leverage these in marketing to build brand trust.</a:t>
            </a:r>
            <a:endParaRPr lang="en-US" sz="110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5296595"/>
            <a:ext cx="10868745" cy="1040408"/>
          </a:xfrm>
          <a:prstGeom prst="rect">
            <a:avLst/>
          </a:prstGeom>
        </p:spPr>
      </p:pic>
      <p:sp>
        <p:nvSpPr>
          <p:cNvPr id="20" name="Text 13"/>
          <p:cNvSpPr/>
          <p:nvPr/>
        </p:nvSpPr>
        <p:spPr>
          <a:xfrm>
            <a:off x="855046" y="5683548"/>
            <a:ext cx="213117" cy="266502"/>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5</a:t>
            </a:r>
            <a:endParaRPr lang="en-US" sz="1650" dirty="0"/>
          </a:p>
        </p:txBody>
      </p:sp>
      <p:sp>
        <p:nvSpPr>
          <p:cNvPr id="21" name="Text 14"/>
          <p:cNvSpPr/>
          <p:nvPr/>
        </p:nvSpPr>
        <p:spPr>
          <a:xfrm>
            <a:off x="1371169" y="5457726"/>
            <a:ext cx="9997924"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Targeted Marketing</a:t>
            </a:r>
            <a:endParaRPr lang="en-US" sz="1350" dirty="0"/>
          </a:p>
        </p:txBody>
      </p:sp>
      <p:sp>
        <p:nvSpPr>
          <p:cNvPr id="22" name="Text 15"/>
          <p:cNvSpPr/>
          <p:nvPr/>
        </p:nvSpPr>
        <p:spPr>
          <a:xfrm>
            <a:off x="1371169" y="5753001"/>
            <a:ext cx="9997924"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Focus efforts on high-revenue age groups and express-shipping users. Young Adults generate the highest revenue ($62,143) and express-shipping customers spend more on average ($60.48 vs. $58.46).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872978"/>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Sources</a:t>
            </a:r>
            <a:endParaRPr lang="en-US" sz="3250" dirty="0"/>
          </a:p>
        </p:txBody>
      </p:sp>
      <p:sp>
        <p:nvSpPr>
          <p:cNvPr id="3" name="Text 1"/>
          <p:cNvSpPr/>
          <p:nvPr/>
        </p:nvSpPr>
        <p:spPr>
          <a:xfrm>
            <a:off x="661475" y="3720405"/>
            <a:ext cx="11478330" cy="264616"/>
          </a:xfrm>
          <a:prstGeom prst="rect">
            <a:avLst/>
          </a:prstGeom>
          <a:noFill/>
          <a:ln/>
        </p:spPr>
        <p:txBody>
          <a:bodyPr wrap="none" lIns="0" tIns="66156" rIns="0" bIns="0" rtlCol="0" anchor="t"/>
          <a:lstStyle/>
          <a:p>
            <a:pPr algn="l" marL="264160" indent="-264160">
              <a:lnSpc>
                <a:spcPct val="133000"/>
              </a:lnSpc>
              <a:buSzPct val="100000"/>
              <a:buChar char="•"/>
            </a:pPr>
            <a:r>
              <a:rPr lang="en-US" sz="1300" b="1" u="sng" dirty="0">
                <a:solidFill>
                  <a:srgbClr val="1B1B27"/>
                </a:solidFill>
                <a:latin typeface="Roboto Bold" pitchFamily="34" charset="0"/>
                <a:ea typeface="Roboto Bold" pitchFamily="34" charset="-122"/>
                <a:cs typeface="Roboto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Customer Shopping Behavior Analysis.pdf</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B1B27"/>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2026-08-27T15:35:43Z</dcterms:created>
  <dcterms:modified xsi:type="dcterms:W3CDTF">2026-08-27T15:35:43Z</dcterms:modified>
</cp:coreProperties>
</file>